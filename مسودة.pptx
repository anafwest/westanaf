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1.png"/><Relationship Id="rId13" Type="http://schemas.openxmlformats.org/officeDocument/2006/relationships/image" Target="../media/image-4-13.png"/><Relationship Id="rId14" Type="http://schemas.openxmlformats.org/officeDocument/2006/relationships/image" Target="../media/image-4-11.png"/><Relationship Id="rId15" Type="http://schemas.openxmlformats.org/officeDocument/2006/relationships/image" Target="../media/image-4-11.png"/><Relationship Id="rId16" Type="http://schemas.openxmlformats.org/officeDocument/2006/relationships/image" Target="../media/image-4-16.png"/><Relationship Id="rId17" Type="http://schemas.openxmlformats.org/officeDocument/2006/relationships/image" Target="../media/image-4-11.png"/><Relationship Id="rId18" Type="http://schemas.openxmlformats.org/officeDocument/2006/relationships/image" Target="../media/image-4-11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0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305d17aec48d8b644ff62e7bc286177c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11048695" y="0"/>
            <a:ext cx="7239305" cy="10287000"/>
          </a:xfrm>
          <a:prstGeom prst="rect">
            <a:avLst/>
          </a:prstGeom>
        </p:spPr>
      </p:pic>
      <p:pic>
        <p:nvPicPr>
          <p:cNvPr id="5" name="Image 1" descr="gen-dedup-24cd32b7cf57dedeae218451117c2153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11048695" y="0"/>
            <a:ext cx="7239305" cy="10287000"/>
          </a:xfrm>
          <a:prstGeom prst="rect">
            <a:avLst/>
          </a:prstGeom>
        </p:spPr>
      </p:pic>
      <p:pic>
        <p:nvPicPr>
          <p:cNvPr id="6" name="Image 2" descr="gen-dedup-689bb3c39ced9c542b7fedfb0c7bfc4f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0992002" y="0"/>
            <a:ext cx="57607" cy="10287000"/>
          </a:xfrm>
          <a:prstGeom prst="rect">
            <a:avLst/>
          </a:prstGeom>
        </p:spPr>
      </p:pic>
      <p:pic>
        <p:nvPicPr>
          <p:cNvPr id="7" name="Image 3" descr="gen-dedup-a66274f93f910f20f20a8c2c10916017.png">    </p:cNvPr>
          <p:cNvPicPr>
            <a:picLocks noChangeAspect="1"/>
          </p:cNvPicPr>
          <p:nvPr/>
        </p:nvPicPr>
        <p:blipFill>
          <a:blip r:embed="rId4">
            <a:alphaModFix amt="92000"/>
          </a:blip>
          <a:srcRect l="0" r="0" t="0" b="0"/>
          <a:stretch/>
        </p:blipFill>
        <p:spPr>
          <a:xfrm>
            <a:off x="12668098" y="2952598"/>
            <a:ext cx="4000500" cy="4000500"/>
          </a:xfrm>
          <a:prstGeom prst="rect">
            <a:avLst/>
          </a:prstGeom>
        </p:spPr>
      </p:pic>
      <p:pic>
        <p:nvPicPr>
          <p:cNvPr id="8" name="Image 4" descr="gen-dedup-c9e1ef2e81ef0774c612603d7318bf16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143000" y="5524805"/>
            <a:ext cx="1143000" cy="3840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1716207" y="952805"/>
            <a:ext cx="57150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أمانة منطقة الرياض</a:t>
            </a:r>
            <a:endParaRPr lang="en-US" sz="2100" dirty="0"/>
          </a:p>
        </p:txBody>
      </p:sp>
      <p:sp>
        <p:nvSpPr>
          <p:cNvPr id="10" name="Text 3"/>
          <p:cNvSpPr txBox="1"/>
          <p:nvPr/>
        </p:nvSpPr>
        <p:spPr>
          <a:xfrm>
            <a:off x="11716207" y="1297534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RIYADH MUNICIPALITY · WEST SECTOR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11716207" y="8410651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7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قطاع غرب الرياض</a:t>
            </a:r>
            <a:endParaRPr lang="en-US" sz="1500" dirty="0"/>
          </a:p>
        </p:txBody>
      </p:sp>
      <p:sp>
        <p:nvSpPr>
          <p:cNvPr id="12" name="Text 5"/>
          <p:cNvSpPr txBox="1"/>
          <p:nvPr/>
        </p:nvSpPr>
        <p:spPr>
          <a:xfrm>
            <a:off x="16586302" y="8934602"/>
            <a:ext cx="10094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رخص البناء</a:t>
            </a:r>
            <a:endParaRPr lang="en-US" sz="1300" dirty="0"/>
          </a:p>
        </p:txBody>
      </p:sp>
      <p:pic>
        <p:nvPicPr>
          <p:cNvPr id="13" name="Image 5" descr="gen-dedup-8a67c107cdc3a122811da50528adf5c2.png">    </p:cNvPr>
          <p:cNvPicPr>
            <a:picLocks noChangeAspect="1"/>
          </p:cNvPicPr>
          <p:nvPr/>
        </p:nvPicPr>
        <p:blipFill>
          <a:blip r:embed="rId6"/>
          <a:srcRect l="0" r="0" t="-2051" b="-2051"/>
          <a:stretch/>
        </p:blipFill>
        <p:spPr>
          <a:xfrm>
            <a:off x="16271748" y="8772754"/>
            <a:ext cx="9144" cy="371246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5213787" y="8934602"/>
            <a:ext cx="90708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v17 · ١٤٤٧هـ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16586302" y="8772754"/>
            <a:ext cx="8485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الإدارة</a:t>
            </a:r>
            <a:endParaRPr lang="en-US" sz="800" dirty="0"/>
          </a:p>
        </p:txBody>
      </p:sp>
      <p:sp>
        <p:nvSpPr>
          <p:cNvPr id="16" name="Text 8"/>
          <p:cNvSpPr txBox="1"/>
          <p:nvPr/>
        </p:nvSpPr>
        <p:spPr>
          <a:xfrm>
            <a:off x="15213787" y="8772754"/>
            <a:ext cx="762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</a:t>
            </a:r>
            <a:endParaRPr lang="en-US" sz="800" dirty="0"/>
          </a:p>
        </p:txBody>
      </p:sp>
      <p:sp>
        <p:nvSpPr>
          <p:cNvPr id="17" name="Shape 9"/>
          <p:cNvSpPr/>
          <p:nvPr/>
        </p:nvSpPr>
        <p:spPr>
          <a:xfrm>
            <a:off x="6601054" y="1457554"/>
            <a:ext cx="75895" cy="75895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0"/>
          <p:cNvSpPr txBox="1"/>
          <p:nvPr/>
        </p:nvSpPr>
        <p:spPr>
          <a:xfrm>
            <a:off x="4986223" y="1419149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عرض تنفيذي · للإدارة العليا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4805172" y="1333195"/>
            <a:ext cx="2057400" cy="323698"/>
          </a:xfrm>
          <a:prstGeom prst="roundRect">
            <a:avLst>
              <a:gd name="adj" fmla="val 282486"/>
            </a:avLst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1143000" y="2286000"/>
            <a:ext cx="10287000" cy="232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0" b="1" spc="-187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 نظام تدقيق</a:t>
            </a:r>
            <a:pPr algn="l" indent="0" marL="0">
              <a:buNone/>
            </a:pPr>
            <a:endParaRPr lang="en-US" sz="9300" dirty="0"/>
          </a:p>
          <a:p>
            <a:pPr algn="l" indent="0" marL="0">
              <a:buNone/>
            </a:pPr>
            <a:r>
              <a:rPr lang="en-US" sz="9300" b="1" spc="-18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المخططات</a:t>
            </a:r>
            <a:endParaRPr lang="en-US" sz="930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5810098"/>
            <a:ext cx="971550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 منصة داخلية موحَّدة تختصر زمن التدقيق، وتُقلِّص الأخطاء، وتُتيح للإدارة قياس الأداء ورضى المستفيدين لحظةً بلحظة. </a:t>
            </a:r>
            <a:endParaRPr lang="en-US" sz="2400" dirty="0"/>
          </a:p>
        </p:txBody>
      </p:sp>
      <p:sp>
        <p:nvSpPr>
          <p:cNvPr id="22" name="Shape 14"/>
          <p:cNvSpPr/>
          <p:nvPr/>
        </p:nvSpPr>
        <p:spPr>
          <a:xfrm>
            <a:off x="8986723" y="7877556"/>
            <a:ext cx="2447849" cy="107624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3" name="Shape 15"/>
          <p:cNvSpPr/>
          <p:nvPr/>
        </p:nvSpPr>
        <p:spPr>
          <a:xfrm>
            <a:off x="11406226" y="7877556"/>
            <a:ext cx="28346" cy="1076249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9234526" y="8086954"/>
            <a:ext cx="1924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2700" dirty="0"/>
          </a:p>
        </p:txBody>
      </p:sp>
      <p:sp>
        <p:nvSpPr>
          <p:cNvPr id="25" name="Text 17"/>
          <p:cNvSpPr txBox="1"/>
          <p:nvPr/>
        </p:nvSpPr>
        <p:spPr>
          <a:xfrm>
            <a:off x="9234526" y="851580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وحدات وظيفية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372454" y="7877556"/>
            <a:ext cx="2447849" cy="107624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27" name="Shape 19"/>
          <p:cNvSpPr/>
          <p:nvPr/>
        </p:nvSpPr>
        <p:spPr>
          <a:xfrm>
            <a:off x="8791956" y="7877556"/>
            <a:ext cx="28346" cy="1076249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6620256" y="8086954"/>
            <a:ext cx="1924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2700" dirty="0"/>
          </a:p>
        </p:txBody>
      </p:sp>
      <p:sp>
        <p:nvSpPr>
          <p:cNvPr id="29" name="Text 21"/>
          <p:cNvSpPr txBox="1"/>
          <p:nvPr/>
        </p:nvSpPr>
        <p:spPr>
          <a:xfrm>
            <a:off x="6620256" y="851580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شرائح مستفيدين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3757270" y="7877556"/>
            <a:ext cx="2447849" cy="107624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1" name="Shape 23"/>
          <p:cNvSpPr/>
          <p:nvPr/>
        </p:nvSpPr>
        <p:spPr>
          <a:xfrm>
            <a:off x="6176772" y="7877556"/>
            <a:ext cx="28346" cy="1076249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005072" y="8086954"/>
            <a:ext cx="192481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∞</a:t>
            </a:r>
            <a:endParaRPr lang="en-US" sz="2700" dirty="0"/>
          </a:p>
        </p:txBody>
      </p:sp>
      <p:sp>
        <p:nvSpPr>
          <p:cNvPr id="33" name="Text 25"/>
          <p:cNvSpPr txBox="1"/>
          <p:nvPr/>
        </p:nvSpPr>
        <p:spPr>
          <a:xfrm>
            <a:off x="4005072" y="8581644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اشتراطات قابلة للتوسعة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1143000" y="7877556"/>
            <a:ext cx="2447849" cy="1076249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35" name="Shape 27"/>
          <p:cNvSpPr/>
          <p:nvPr/>
        </p:nvSpPr>
        <p:spPr>
          <a:xfrm>
            <a:off x="3562502" y="7877556"/>
            <a:ext cx="28346" cy="1076249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1390802" y="8086954"/>
            <a:ext cx="1924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KPI</a:t>
            </a:r>
            <a:endParaRPr lang="en-US" sz="2700" dirty="0"/>
          </a:p>
        </p:txBody>
      </p:sp>
      <p:sp>
        <p:nvSpPr>
          <p:cNvPr id="37" name="Text 29"/>
          <p:cNvSpPr txBox="1"/>
          <p:nvPr/>
        </p:nvSpPr>
        <p:spPr>
          <a:xfrm>
            <a:off x="1390802" y="8515807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لوحة أداء متكاملة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935102" y="4286707"/>
            <a:ext cx="3829507" cy="44293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935102" y="4286707"/>
            <a:ext cx="3829507" cy="38405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34602" y="4286707"/>
            <a:ext cx="3829507" cy="44293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34602" y="4286707"/>
            <a:ext cx="3829507" cy="38405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4102" y="4286707"/>
            <a:ext cx="3829507" cy="44293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4102" y="4286707"/>
            <a:ext cx="3829507" cy="38405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3602" y="4286707"/>
            <a:ext cx="3829507" cy="442935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3602" y="4286707"/>
            <a:ext cx="3829507" cy="38405"/>
          </a:xfrm>
          <a:prstGeom prst="rect">
            <a:avLst/>
          </a:prstGeom>
          <a:solidFill>
            <a:srgbClr val="B54708"/>
          </a:solidFill>
          <a:ln w="12700">
            <a:solidFill>
              <a:srgbClr val="B5470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1695" y="8953805"/>
            <a:ext cx="16002000" cy="761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5" name="Image 2" descr="gen-dedup-1cbe01caf53ae3da225c023ff1f746f3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526305" y="4253789"/>
            <a:ext cx="762610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PROBLEM · 01</a:t>
            </a:r>
            <a:endParaRPr lang="en-US" sz="1200" dirty="0"/>
          </a:p>
        </p:txBody>
      </p:sp>
      <p:pic>
        <p:nvPicPr>
          <p:cNvPr id="17" name="Image 3" descr="gen-dedup-234702c931b0eb0b7ee5efffe867f37e.png">    </p:cNvPr>
          <p:cNvPicPr>
            <a:picLocks noChangeAspect="1"/>
          </p:cNvPicPr>
          <p:nvPr/>
        </p:nvPicPr>
        <p:blipFill>
          <a:blip r:embed="rId4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6306495" y="457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C35"/>
            </a:solidFill>
            <a:prstDash val="solid"/>
          </a:ln>
        </p:spPr>
      </p:sp>
      <p:pic>
        <p:nvPicPr>
          <p:cNvPr id="19" name="Image 4" descr="gen-dedup-ee33d3fa57f0ac5a96e8c4660703d2c9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402507" y="552298"/>
            <a:ext cx="267005" cy="2670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484657" y="540410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3484657" y="707746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1524305"/>
            <a:ext cx="1600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٠١ — التشخيص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1819656"/>
            <a:ext cx="16002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واقع التدقيق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قبل البرنامج</a:t>
            </a:r>
            <a:endParaRPr lang="en-US" sz="4200" dirty="0"/>
          </a:p>
        </p:txBody>
      </p:sp>
      <p:sp>
        <p:nvSpPr>
          <p:cNvPr id="24" name="Text 17"/>
          <p:cNvSpPr txBox="1"/>
          <p:nvPr/>
        </p:nvSpPr>
        <p:spPr>
          <a:xfrm>
            <a:off x="4381805" y="2539289"/>
            <a:ext cx="12382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عملية تدقيق المخططات كانت تعتمد على المعرفة الذهنية للمدقق وملفات Excel متفرقة. النتيجة: تشتُّت، تكرار للأخطاء، صعوبة في المتابعة الإدارية، وغياب قياس موضوعي للأداء.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16002000" y="4552798"/>
            <a:ext cx="533095" cy="533095"/>
          </a:xfrm>
          <a:prstGeom prst="ellipse">
            <a:avLst/>
          </a:prstGeom>
          <a:solidFill>
            <a:srgbClr val="FEF3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gen-dedup-4edb4e6800d20fd6a19ba714bf786ce4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135502" y="4686300"/>
            <a:ext cx="267005" cy="2670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3182905" y="5333695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تشتُّت المرجعيات</a:t>
            </a:r>
            <a:endParaRPr lang="en-US" sz="2100" dirty="0"/>
          </a:p>
        </p:txBody>
      </p:sp>
      <p:sp>
        <p:nvSpPr>
          <p:cNvPr id="28" name="Text 20"/>
          <p:cNvSpPr txBox="1"/>
          <p:nvPr/>
        </p:nvSpPr>
        <p:spPr>
          <a:xfrm>
            <a:off x="13182905" y="5787238"/>
            <a:ext cx="33531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اشتراطات وادي حنيفة، الكود السعودي، ومتطلبات التصنيف موزَّعة بين ملفات وذاكرة المدقق — لا مصدر واحد للحقيقة. 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13182905" y="675467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13182905" y="6916522"/>
            <a:ext cx="3353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الأثر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3182905" y="7106717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قرارات غير متَّسقة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13182905" y="4515307"/>
            <a:ext cx="70774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>
                    <a:alpha val="18000"/>
                  </a:srgbClr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٠١</a:t>
            </a:r>
            <a:endParaRPr lang="en-US" sz="4800" dirty="0"/>
          </a:p>
        </p:txBody>
      </p:sp>
      <p:sp>
        <p:nvSpPr>
          <p:cNvPr id="33" name="Shape 25"/>
          <p:cNvSpPr/>
          <p:nvPr/>
        </p:nvSpPr>
        <p:spPr>
          <a:xfrm>
            <a:off x="12001500" y="4552798"/>
            <a:ext cx="533095" cy="533095"/>
          </a:xfrm>
          <a:prstGeom prst="ellipse">
            <a:avLst/>
          </a:prstGeom>
          <a:solidFill>
            <a:srgbClr val="FFFA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6" descr="gen-dedup-38dbc0e57f4bf11f7759a9969aa44bb6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2135002" y="4686300"/>
            <a:ext cx="267005" cy="2670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182405" y="5333695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بطء استحضار المعلومة</a:t>
            </a:r>
            <a:endParaRPr lang="en-US" sz="2100" dirty="0"/>
          </a:p>
        </p:txBody>
      </p:sp>
      <p:sp>
        <p:nvSpPr>
          <p:cNvPr id="36" name="Text 27"/>
          <p:cNvSpPr txBox="1"/>
          <p:nvPr/>
        </p:nvSpPr>
        <p:spPr>
          <a:xfrm>
            <a:off x="9182405" y="5787238"/>
            <a:ext cx="33531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كل طلب يستلزم بحثًا يدويًا في مراجع متفرقة، ما يُطيل زمن التدقيق على الطلب الواحد ويُؤخِّر الدفعات اللاحقة. 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9182405" y="6495898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9182405" y="6657746"/>
            <a:ext cx="3353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الأثر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9182405" y="6847942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إنتاجية أقل من المستهدف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9182405" y="4515307"/>
            <a:ext cx="798271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>
                    <a:alpha val="18000"/>
                  </a:srgbClr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٠٢</a:t>
            </a:r>
            <a:endParaRPr lang="en-US" sz="4800" dirty="0"/>
          </a:p>
        </p:txBody>
      </p:sp>
      <p:sp>
        <p:nvSpPr>
          <p:cNvPr id="41" name="Shape 32"/>
          <p:cNvSpPr/>
          <p:nvPr/>
        </p:nvSpPr>
        <p:spPr>
          <a:xfrm>
            <a:off x="8001000" y="4552798"/>
            <a:ext cx="533095" cy="533095"/>
          </a:xfrm>
          <a:prstGeom prst="ellipse">
            <a:avLst/>
          </a:prstGeom>
          <a:solidFill>
            <a:srgbClr val="FEF3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gen-dedup-0af163facb9af0d6aea34cd8ea1262ab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34502" y="4686300"/>
            <a:ext cx="267005" cy="2670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5181905" y="5333695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أخطاء بشرية متكرِّرة</a:t>
            </a:r>
            <a:endParaRPr lang="en-US" sz="2100" dirty="0"/>
          </a:p>
        </p:txBody>
      </p:sp>
      <p:sp>
        <p:nvSpPr>
          <p:cNvPr id="44" name="Text 34"/>
          <p:cNvSpPr txBox="1"/>
          <p:nvPr/>
        </p:nvSpPr>
        <p:spPr>
          <a:xfrm>
            <a:off x="5181905" y="5787238"/>
            <a:ext cx="3353105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السهو عن بند، أو تطبيق اشتراط على نوع طلب لا يخصُّه — أخطاء تتسلَّل وتصل إلى المشرف بدون فلتر تلقائي. </a:t>
            </a:r>
            <a:endParaRPr lang="en-US" sz="1200" dirty="0"/>
          </a:p>
        </p:txBody>
      </p:sp>
      <p:sp>
        <p:nvSpPr>
          <p:cNvPr id="45" name="Shape 35"/>
          <p:cNvSpPr/>
          <p:nvPr/>
        </p:nvSpPr>
        <p:spPr>
          <a:xfrm>
            <a:off x="5181905" y="675467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5181905" y="6916522"/>
            <a:ext cx="3353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الأثر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5181905" y="7106717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شكاوى وإعادة عمل</a:t>
            </a:r>
            <a:endParaRPr lang="en-US" sz="1200" dirty="0"/>
          </a:p>
        </p:txBody>
      </p:sp>
      <p:sp>
        <p:nvSpPr>
          <p:cNvPr id="48" name="Text 38"/>
          <p:cNvSpPr txBox="1"/>
          <p:nvPr/>
        </p:nvSpPr>
        <p:spPr>
          <a:xfrm>
            <a:off x="5181905" y="4515307"/>
            <a:ext cx="80924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>
                    <a:alpha val="18000"/>
                  </a:srgbClr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٠٣</a:t>
            </a:r>
            <a:endParaRPr lang="en-US" sz="4800" dirty="0"/>
          </a:p>
        </p:txBody>
      </p:sp>
      <p:sp>
        <p:nvSpPr>
          <p:cNvPr id="49" name="Shape 39"/>
          <p:cNvSpPr/>
          <p:nvPr/>
        </p:nvSpPr>
        <p:spPr>
          <a:xfrm>
            <a:off x="4000500" y="4552798"/>
            <a:ext cx="533095" cy="533095"/>
          </a:xfrm>
          <a:prstGeom prst="ellipse">
            <a:avLst/>
          </a:prstGeom>
          <a:solidFill>
            <a:srgbClr val="FFFA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8" descr="gen-dedup-c0495a5c25cf19d8d76170a21155951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134002" y="4686300"/>
            <a:ext cx="267005" cy="267005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181405" y="5333695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غياب القياس الإداري</a:t>
            </a:r>
            <a:endParaRPr lang="en-US" sz="2100" dirty="0"/>
          </a:p>
        </p:txBody>
      </p:sp>
      <p:sp>
        <p:nvSpPr>
          <p:cNvPr id="52" name="Text 41"/>
          <p:cNvSpPr txBox="1"/>
          <p:nvPr/>
        </p:nvSpPr>
        <p:spPr>
          <a:xfrm>
            <a:off x="1181405" y="5787238"/>
            <a:ext cx="335310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لا توجد لوحة تُظهر إنتاجية كل مدقق، أو نِسب الردّ، أو الاتجاهات — القرارات تُتَّخذ بمعزل عن البيانات. </a:t>
            </a:r>
            <a:endParaRPr lang="en-US" sz="1200" dirty="0"/>
          </a:p>
        </p:txBody>
      </p:sp>
      <p:sp>
        <p:nvSpPr>
          <p:cNvPr id="53" name="Shape 42"/>
          <p:cNvSpPr/>
          <p:nvPr/>
        </p:nvSpPr>
        <p:spPr>
          <a:xfrm>
            <a:off x="1181405" y="6495898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1181405" y="6657746"/>
            <a:ext cx="3353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الأثر</a:t>
            </a:r>
            <a:endParaRPr lang="en-US" sz="900" dirty="0"/>
          </a:p>
        </p:txBody>
      </p:sp>
      <p:sp>
        <p:nvSpPr>
          <p:cNvPr id="55" name="Text 44"/>
          <p:cNvSpPr txBox="1"/>
          <p:nvPr/>
        </p:nvSpPr>
        <p:spPr>
          <a:xfrm>
            <a:off x="1181405" y="6847942"/>
            <a:ext cx="3353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قرارات بلا مؤشِّر</a:t>
            </a:r>
            <a:endParaRPr lang="en-US" sz="1200" dirty="0"/>
          </a:p>
        </p:txBody>
      </p:sp>
      <p:sp>
        <p:nvSpPr>
          <p:cNvPr id="56" name="Text 45"/>
          <p:cNvSpPr txBox="1"/>
          <p:nvPr/>
        </p:nvSpPr>
        <p:spPr>
          <a:xfrm>
            <a:off x="1181405" y="4515307"/>
            <a:ext cx="8001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>
                    <a:alpha val="18000"/>
                  </a:srgbClr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٠٤</a:t>
            </a:r>
            <a:endParaRPr lang="en-US" sz="4800" dirty="0"/>
          </a:p>
        </p:txBody>
      </p:sp>
      <p:pic>
        <p:nvPicPr>
          <p:cNvPr id="57" name="Image 9" descr="gen-dedup-9c39acba89e45aa603c266de7ff7e196.png">    </p:cNvPr>
          <p:cNvPicPr>
            <a:picLocks noChangeAspect="1"/>
          </p:cNvPicPr>
          <p:nvPr/>
        </p:nvPicPr>
        <p:blipFill>
          <a:blip r:embed="rId10"/>
          <a:srcRect l="-400" r="-400" t="0" b="0"/>
          <a:stretch/>
        </p:blipFill>
        <p:spPr>
          <a:xfrm>
            <a:off x="16402507" y="9105595"/>
            <a:ext cx="57607" cy="457200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8899855" y="9134856"/>
            <a:ext cx="73344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الخلاصة</a:t>
            </a:r>
            <a:endParaRPr lang="en-US" sz="900" dirty="0"/>
          </a:p>
        </p:txBody>
      </p:sp>
      <p:sp>
        <p:nvSpPr>
          <p:cNvPr id="59" name="Text 47"/>
          <p:cNvSpPr txBox="1"/>
          <p:nvPr/>
        </p:nvSpPr>
        <p:spPr>
          <a:xfrm>
            <a:off x="8899855" y="9286646"/>
            <a:ext cx="80202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عملية تدقيق هشَّة، تعتمد على الأفراد، وتفتقر إلى المرجع الموحَّد والقياس الإداري.</a:t>
            </a:r>
            <a:endParaRPr lang="en-US" sz="1600" dirty="0"/>
          </a:p>
        </p:txBody>
      </p:sp>
      <p:sp>
        <p:nvSpPr>
          <p:cNvPr id="60" name="Text 48"/>
          <p:cNvSpPr txBox="1"/>
          <p:nvPr/>
        </p:nvSpPr>
        <p:spPr>
          <a:xfrm>
            <a:off x="457200" y="9239098"/>
            <a:ext cx="16550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→ يستدعي حلًّا منظوميًّا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39505" y="4286707"/>
            <a:ext cx="79251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3407" y="4286707"/>
            <a:ext cx="7925105" cy="26865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839505" y="7144207"/>
            <a:ext cx="7925105" cy="22101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7144207"/>
            <a:ext cx="7905902" cy="2190902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0" name="Image 2" descr="gen-dedup-e9a8e57326ad5fd0d2d3491b818daa90.png">    </p:cNvPr>
          <p:cNvPicPr>
            <a:picLocks noChangeAspect="1"/>
          </p:cNvPicPr>
          <p:nvPr/>
        </p:nvPicPr>
        <p:blipFill>
          <a:blip r:embed="rId3"/>
          <a:srcRect l="-394" r="-394" t="0" b="0"/>
          <a:stretch/>
        </p:blipFill>
        <p:spPr>
          <a:xfrm>
            <a:off x="16707002" y="4286707"/>
            <a:ext cx="57607" cy="2667305"/>
          </a:xfrm>
          <a:prstGeom prst="rect">
            <a:avLst/>
          </a:prstGeom>
        </p:spPr>
      </p:pic>
      <p:pic>
        <p:nvPicPr>
          <p:cNvPr id="11" name="Image 3" descr="gen-dedup-fe4dd17dbd9bf6d53bcb84a709fef819.png">    </p:cNvPr>
          <p:cNvPicPr>
            <a:picLocks noChangeAspect="1"/>
          </p:cNvPicPr>
          <p:nvPr/>
        </p:nvPicPr>
        <p:blipFill>
          <a:blip r:embed="rId4"/>
          <a:srcRect l="-394" r="-394" t="0" b="0"/>
          <a:stretch/>
        </p:blipFill>
        <p:spPr>
          <a:xfrm>
            <a:off x="8610905" y="4286707"/>
            <a:ext cx="57607" cy="2667305"/>
          </a:xfrm>
          <a:prstGeom prst="rect">
            <a:avLst/>
          </a:prstGeom>
        </p:spPr>
      </p:pic>
      <p:pic>
        <p:nvPicPr>
          <p:cNvPr id="12" name="Image 4" descr="gen-dedup-f49900bea50c059204f0e59018675c5d.png">    </p:cNvPr>
          <p:cNvPicPr>
            <a:picLocks noChangeAspect="1"/>
          </p:cNvPicPr>
          <p:nvPr/>
        </p:nvPicPr>
        <p:blipFill>
          <a:blip r:embed="rId5"/>
          <a:srcRect l="-397" r="-397" t="0" b="0"/>
          <a:stretch/>
        </p:blipFill>
        <p:spPr>
          <a:xfrm>
            <a:off x="16707002" y="7144207"/>
            <a:ext cx="57607" cy="2190902"/>
          </a:xfrm>
          <a:prstGeom prst="rect">
            <a:avLst/>
          </a:prstGeom>
        </p:spPr>
      </p:pic>
      <p:pic>
        <p:nvPicPr>
          <p:cNvPr id="13" name="Image 5" descr="gen-dedup-9245ded31e9344abc3a8a31f0b03a2cd.png">    </p:cNvPr>
          <p:cNvPicPr>
            <a:picLocks noChangeAspect="1"/>
          </p:cNvPicPr>
          <p:nvPr/>
        </p:nvPicPr>
        <p:blipFill>
          <a:blip r:embed="rId6"/>
          <a:srcRect l="-397" r="-397" t="0" b="0"/>
          <a:stretch/>
        </p:blipFill>
        <p:spPr>
          <a:xfrm>
            <a:off x="8610905" y="7144207"/>
            <a:ext cx="57607" cy="2190902"/>
          </a:xfrm>
          <a:prstGeom prst="rect">
            <a:avLst/>
          </a:prstGeom>
        </p:spPr>
      </p:pic>
      <p:pic>
        <p:nvPicPr>
          <p:cNvPr id="14" name="Image 6" descr="gen-dedup-1cbe01caf53ae3da225c023ff1f746f3.png">    </p:cNvPr>
          <p:cNvPicPr>
            <a:picLocks noChangeAspect="1"/>
          </p:cNvPicPr>
          <p:nvPr/>
        </p:nvPicPr>
        <p:blipFill>
          <a:blip r:embed="rId7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7526305" y="4179722"/>
            <a:ext cx="76261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SOLUTION · 02</a:t>
            </a:r>
            <a:endParaRPr lang="en-US" sz="1200" dirty="0"/>
          </a:p>
        </p:txBody>
      </p:sp>
      <p:pic>
        <p:nvPicPr>
          <p:cNvPr id="16" name="Image 7" descr="gen-dedup-234702c931b0eb0b7ee5efffe867f37e.png">    </p:cNvPr>
          <p:cNvPicPr>
            <a:picLocks noChangeAspect="1"/>
          </p:cNvPicPr>
          <p:nvPr/>
        </p:nvPicPr>
        <p:blipFill>
          <a:blip r:embed="rId8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16306495" y="457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C35"/>
            </a:solidFill>
            <a:prstDash val="solid"/>
          </a:ln>
        </p:spPr>
      </p:sp>
      <p:pic>
        <p:nvPicPr>
          <p:cNvPr id="18" name="Image 8" descr="gen-dedup-f2e56aa6188aed7e3cf480ac0f83db5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6402507" y="552298"/>
            <a:ext cx="267005" cy="267005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3484657" y="540410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20" name="Text 9"/>
          <p:cNvSpPr txBox="1"/>
          <p:nvPr/>
        </p:nvSpPr>
        <p:spPr>
          <a:xfrm>
            <a:off x="13484657" y="707746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21" name="Text 10"/>
          <p:cNvSpPr txBox="1"/>
          <p:nvPr/>
        </p:nvSpPr>
        <p:spPr>
          <a:xfrm>
            <a:off x="4381805" y="1524305"/>
            <a:ext cx="1238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٠٢ — الحل المقترح</a:t>
            </a:r>
            <a:endParaRPr lang="en-US" sz="1000" dirty="0"/>
          </a:p>
        </p:txBody>
      </p:sp>
      <p:sp>
        <p:nvSpPr>
          <p:cNvPr id="22" name="Text 11"/>
          <p:cNvSpPr txBox="1"/>
          <p:nvPr/>
        </p:nvSpPr>
        <p:spPr>
          <a:xfrm>
            <a:off x="4381805" y="1819656"/>
            <a:ext cx="12382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منصة موحَّدة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بأربعة مكوِّنات</a:t>
            </a:r>
            <a:endParaRPr lang="en-US" sz="4200" dirty="0"/>
          </a:p>
        </p:txBody>
      </p:sp>
      <p:sp>
        <p:nvSpPr>
          <p:cNvPr id="23" name="Text 12"/>
          <p:cNvSpPr txBox="1"/>
          <p:nvPr/>
        </p:nvSpPr>
        <p:spPr>
          <a:xfrm>
            <a:off x="4953305" y="2539289"/>
            <a:ext cx="124971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نظام داخلي يعمل بأربع وحدات مترابطة، تغطي دورة حياة التدقيق كاملةً — من إنشاء الطلب إلى تحليل الأداء.</a:t>
            </a:r>
            <a:endParaRPr lang="en-US" sz="1600" dirty="0"/>
          </a:p>
        </p:txBody>
      </p:sp>
      <p:sp>
        <p:nvSpPr>
          <p:cNvPr id="24" name="Shape 13"/>
          <p:cNvSpPr/>
          <p:nvPr/>
        </p:nvSpPr>
        <p:spPr>
          <a:xfrm>
            <a:off x="2279599" y="2048256"/>
            <a:ext cx="75895" cy="75895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4"/>
          <p:cNvSpPr txBox="1"/>
          <p:nvPr/>
        </p:nvSpPr>
        <p:spPr>
          <a:xfrm>
            <a:off x="942746" y="2009851"/>
            <a:ext cx="14849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 — v17</a:t>
            </a:r>
            <a:endParaRPr lang="en-US" sz="900" dirty="0"/>
          </a:p>
        </p:txBody>
      </p:sp>
      <p:sp>
        <p:nvSpPr>
          <p:cNvPr id="26" name="Shape 15"/>
          <p:cNvSpPr/>
          <p:nvPr/>
        </p:nvSpPr>
        <p:spPr>
          <a:xfrm>
            <a:off x="761695" y="1904695"/>
            <a:ext cx="1781251" cy="3621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16"/>
          <p:cNvSpPr txBox="1"/>
          <p:nvPr/>
        </p:nvSpPr>
        <p:spPr>
          <a:xfrm>
            <a:off x="15914218" y="4552798"/>
            <a:ext cx="88056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المكوِّن ٠١</a:t>
            </a:r>
            <a:endParaRPr lang="en-US" sz="1000" dirty="0"/>
          </a:p>
        </p:txBody>
      </p:sp>
      <p:pic>
        <p:nvPicPr>
          <p:cNvPr id="28" name="Image 9" descr="gen-dedup-298180c761e1b64340ddced27da0ce59.png">    </p:cNvPr>
          <p:cNvPicPr>
            <a:picLocks noChangeAspect="1"/>
          </p:cNvPicPr>
          <p:nvPr/>
        </p:nvPicPr>
        <p:blipFill>
          <a:blip r:embed="rId10"/>
          <a:srcRect l="-2089" r="-2089" t="0" b="0"/>
          <a:stretch/>
        </p:blipFill>
        <p:spPr>
          <a:xfrm>
            <a:off x="10211105" y="4629607"/>
            <a:ext cx="5570525" cy="9144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10211105" y="4809744"/>
            <a:ext cx="62298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تدقيق جديد</a:t>
            </a:r>
            <a:endParaRPr lang="en-US" sz="2500" dirty="0"/>
          </a:p>
        </p:txBody>
      </p:sp>
      <p:sp>
        <p:nvSpPr>
          <p:cNvPr id="30" name="Text 18"/>
          <p:cNvSpPr txBox="1"/>
          <p:nvPr/>
        </p:nvSpPr>
        <p:spPr>
          <a:xfrm>
            <a:off x="10211105" y="5297119"/>
            <a:ext cx="62298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واجهة موحَّدة لإنشاء تدقيق وفق أربعة فلاتر: نوع الطلب، التصنيف، نوع الكود، نوع المشروع. تستحضر تلقائيًّا قائمة الاشتراطات والمرفقات المرتبطة، ثم تُولِّد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تقرير تدقيق نهائيًّا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جاهزًا للنسخ والحفظ. </a:t>
            </a:r>
            <a:endParaRPr lang="en-US" sz="1200" dirty="0"/>
          </a:p>
        </p:txBody>
      </p:sp>
      <p:sp>
        <p:nvSpPr>
          <p:cNvPr id="31" name="Shape 19"/>
          <p:cNvSpPr/>
          <p:nvPr/>
        </p:nvSpPr>
        <p:spPr>
          <a:xfrm>
            <a:off x="9105595" y="4552798"/>
            <a:ext cx="914400" cy="9144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10" descr="gen-dedup-096a3acab87fbd1af5d34e4c7cbfb9f4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315907" y="4762195"/>
            <a:ext cx="495605" cy="495605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5855696" y="5951830"/>
            <a:ext cx="590702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٤ فلاتر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14437462" y="5951830"/>
            <a:ext cx="1343254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اشتراطات ديناميكية</a:t>
            </a:r>
            <a:endParaRPr lang="en-US" sz="900" dirty="0"/>
          </a:p>
        </p:txBody>
      </p:sp>
      <p:sp>
        <p:nvSpPr>
          <p:cNvPr id="35" name="Text 22"/>
          <p:cNvSpPr txBox="1"/>
          <p:nvPr/>
        </p:nvSpPr>
        <p:spPr>
          <a:xfrm>
            <a:off x="12662611" y="5951830"/>
            <a:ext cx="1705356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تقرير قابل للنسخ والطباعة</a:t>
            </a:r>
            <a:endParaRPr lang="en-US" sz="900" dirty="0"/>
          </a:p>
        </p:txBody>
      </p:sp>
      <p:sp>
        <p:nvSpPr>
          <p:cNvPr id="36" name="Text 23"/>
          <p:cNvSpPr txBox="1"/>
          <p:nvPr/>
        </p:nvSpPr>
        <p:spPr>
          <a:xfrm>
            <a:off x="7798003" y="4552798"/>
            <a:ext cx="9116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المكوِّن ٠٢</a:t>
            </a:r>
            <a:endParaRPr lang="en-US" sz="1000" dirty="0"/>
          </a:p>
        </p:txBody>
      </p:sp>
      <p:pic>
        <p:nvPicPr>
          <p:cNvPr id="37" name="Image 11" descr="gen-dedup-39b57bac97a4ea86f030cca18e6d498e.png">    </p:cNvPr>
          <p:cNvPicPr>
            <a:picLocks noChangeAspect="1"/>
          </p:cNvPicPr>
          <p:nvPr/>
        </p:nvPicPr>
        <p:blipFill>
          <a:blip r:embed="rId12"/>
          <a:srcRect l="-2083" r="-2083" t="0" b="0"/>
          <a:stretch/>
        </p:blipFill>
        <p:spPr>
          <a:xfrm>
            <a:off x="2115007" y="4629607"/>
            <a:ext cx="5550408" cy="9144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2115007" y="4809744"/>
            <a:ext cx="62298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سجل التدقيقات</a:t>
            </a:r>
            <a:endParaRPr lang="en-US" sz="2500" dirty="0"/>
          </a:p>
        </p:txBody>
      </p:sp>
      <p:sp>
        <p:nvSpPr>
          <p:cNvPr id="39" name="Text 25"/>
          <p:cNvSpPr txBox="1"/>
          <p:nvPr/>
        </p:nvSpPr>
        <p:spPr>
          <a:xfrm>
            <a:off x="2115007" y="5297119"/>
            <a:ext cx="62298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أرشيف مركزي لكل تدقيق تمَّ حفظه — قابل للبحث والفلترة والتصدير. يحفظ بصمة كاملة لمَن دقَّق، متى، وما الملاحظات.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المرجع الإداري</a:t>
            </a:r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الذي يُغني عن الذاكرة الشخصية. </a:t>
            </a:r>
            <a:endParaRPr lang="en-US" sz="1200" dirty="0"/>
          </a:p>
        </p:txBody>
      </p:sp>
      <p:sp>
        <p:nvSpPr>
          <p:cNvPr id="40" name="Shape 26"/>
          <p:cNvSpPr/>
          <p:nvPr/>
        </p:nvSpPr>
        <p:spPr>
          <a:xfrm>
            <a:off x="1009498" y="4552798"/>
            <a:ext cx="914400" cy="914400"/>
          </a:xfrm>
          <a:prstGeom prst="rect">
            <a:avLst/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12" descr="gen-dedup-e8a29614ce11de7712507e25cb3a6750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218895" y="4762195"/>
            <a:ext cx="495605" cy="495605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7480706" y="5951830"/>
            <a:ext cx="866851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بحث وفلترة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6156655" y="5951830"/>
            <a:ext cx="1257300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تصدير CSV / طباعة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5066690" y="5951830"/>
            <a:ext cx="1019556" cy="286207"/>
          </a:xfrm>
          <a:prstGeom prst="rect">
            <a:avLst/>
          </a:prstGeom>
          <a:solidFill>
            <a:srgbClr val="F7F8FB"/>
          </a:solidFill>
          <a:ln w="12700">
            <a:solidFill>
              <a:srgbClr val="D8DEE8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نسخ احتياطية</a:t>
            </a:r>
            <a:endParaRPr lang="en-US" sz="900" dirty="0"/>
          </a:p>
        </p:txBody>
      </p:sp>
      <p:sp>
        <p:nvSpPr>
          <p:cNvPr id="45" name="Text 30"/>
          <p:cNvSpPr txBox="1"/>
          <p:nvPr/>
        </p:nvSpPr>
        <p:spPr>
          <a:xfrm>
            <a:off x="15867583" y="7410298"/>
            <a:ext cx="9592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المكوِّن ٠٣</a:t>
            </a:r>
            <a:endParaRPr lang="en-US" sz="1000" dirty="0"/>
          </a:p>
        </p:txBody>
      </p:sp>
      <p:pic>
        <p:nvPicPr>
          <p:cNvPr id="46" name="Image 13" descr="gen-dedup-2ef0675c5a76c86db7531932f82ea7e3.png">    </p:cNvPr>
          <p:cNvPicPr>
            <a:picLocks noChangeAspect="1"/>
          </p:cNvPicPr>
          <p:nvPr/>
        </p:nvPicPr>
        <p:blipFill>
          <a:blip r:embed="rId14"/>
          <a:srcRect l="-2083" r="-2083" t="0" b="0"/>
          <a:stretch/>
        </p:blipFill>
        <p:spPr>
          <a:xfrm>
            <a:off x="10096805" y="7487107"/>
            <a:ext cx="5638190" cy="9144"/>
          </a:xfrm>
          <a:prstGeom prst="rect">
            <a:avLst/>
          </a:prstGeom>
        </p:spPr>
      </p:pic>
      <p:sp>
        <p:nvSpPr>
          <p:cNvPr id="47" name="Text 31"/>
          <p:cNvSpPr txBox="1"/>
          <p:nvPr/>
        </p:nvSpPr>
        <p:spPr>
          <a:xfrm>
            <a:off x="10096805" y="7648956"/>
            <a:ext cx="6344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إدارة الاشتراطات والمدقِّقين</a:t>
            </a:r>
            <a:endParaRPr lang="en-US" sz="2200" dirty="0"/>
          </a:p>
        </p:txBody>
      </p:sp>
      <p:sp>
        <p:nvSpPr>
          <p:cNvPr id="48" name="Text 32"/>
          <p:cNvSpPr txBox="1"/>
          <p:nvPr/>
        </p:nvSpPr>
        <p:spPr>
          <a:xfrm>
            <a:off x="10096805" y="8072323"/>
            <a:ext cx="6344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مرجع موحَّد قابل للتحديث: كل اشتراط ومرفق يُربط بمجموعة الفلاتر التي تخصُّه — فلا تظهر بنود لا تخصُّ المشروع. يشمل أيضًا إدارة بيانات المدقِّقين. </a:t>
            </a:r>
            <a:endParaRPr lang="en-US" sz="1100" dirty="0"/>
          </a:p>
        </p:txBody>
      </p:sp>
      <p:sp>
        <p:nvSpPr>
          <p:cNvPr id="49" name="Shape 33"/>
          <p:cNvSpPr/>
          <p:nvPr/>
        </p:nvSpPr>
        <p:spPr>
          <a:xfrm>
            <a:off x="9105595" y="7410298"/>
            <a:ext cx="800100" cy="800100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4" descr="gen-dedup-cdd2d2aaea45dcd677fd75c650eda426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286646" y="7591349"/>
            <a:ext cx="437998" cy="437998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7795260" y="7410298"/>
            <a:ext cx="91165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المكوِّن ٠٤</a:t>
            </a:r>
            <a:endParaRPr lang="en-US" sz="1000" dirty="0"/>
          </a:p>
        </p:txBody>
      </p:sp>
      <p:pic>
        <p:nvPicPr>
          <p:cNvPr id="52" name="Image 15" descr="gen-dedup-ef9902aa99b452cc39086403cd1adac3.png">    </p:cNvPr>
          <p:cNvPicPr>
            <a:picLocks noChangeAspect="1"/>
          </p:cNvPicPr>
          <p:nvPr/>
        </p:nvPicPr>
        <p:blipFill>
          <a:blip r:embed="rId16"/>
          <a:srcRect l="-2078" r="-2078" t="0" b="0"/>
          <a:stretch/>
        </p:blipFill>
        <p:spPr>
          <a:xfrm>
            <a:off x="2018995" y="7487107"/>
            <a:ext cx="5641848" cy="9144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2018995" y="7648956"/>
            <a:ext cx="6324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الأداء KPIs</a:t>
            </a:r>
            <a:endParaRPr lang="en-US" sz="2200" dirty="0"/>
          </a:p>
        </p:txBody>
      </p:sp>
      <p:sp>
        <p:nvSpPr>
          <p:cNvPr id="54" name="Text 36"/>
          <p:cNvSpPr txBox="1"/>
          <p:nvPr/>
        </p:nvSpPr>
        <p:spPr>
          <a:xfrm>
            <a:off x="2018995" y="8072323"/>
            <a:ext cx="6324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قيادة إدارية تعرض الأداء العام، التحليل التفصيلي، والتقارير القابلة للتصدير — بثلاث عدسات: نظرة عامة، تحليل، تقارير.</a:t>
            </a:r>
            <a:endParaRPr lang="en-US" sz="1100" dirty="0"/>
          </a:p>
        </p:txBody>
      </p:sp>
      <p:sp>
        <p:nvSpPr>
          <p:cNvPr id="55" name="Shape 37"/>
          <p:cNvSpPr/>
          <p:nvPr/>
        </p:nvSpPr>
        <p:spPr>
          <a:xfrm>
            <a:off x="1009498" y="7410298"/>
            <a:ext cx="819302" cy="8193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56" name="Image 16" descr="gen-dedup-206022011da8b59715cbcf66db765f0a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200607" y="7601407"/>
            <a:ext cx="437998" cy="437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954305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3805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53305" y="4286707"/>
            <a:ext cx="3810305" cy="4953305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286707"/>
            <a:ext cx="3810305" cy="495330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0" name="Image 2" descr="gen-dedup-89ef6212a40d0c4e139bc90169e005fc.png">    </p:cNvPr>
          <p:cNvPicPr>
            <a:picLocks noChangeAspect="1"/>
          </p:cNvPicPr>
          <p:nvPr/>
        </p:nvPicPr>
        <p:blipFill>
          <a:blip r:embed="rId3"/>
          <a:srcRect l="-205" r="-205" t="0" b="0"/>
          <a:stretch/>
        </p:blipFill>
        <p:spPr>
          <a:xfrm>
            <a:off x="12954305" y="4286707"/>
            <a:ext cx="3810305" cy="75895"/>
          </a:xfrm>
          <a:prstGeom prst="rect">
            <a:avLst/>
          </a:prstGeom>
        </p:spPr>
      </p:pic>
      <p:pic>
        <p:nvPicPr>
          <p:cNvPr id="11" name="Image 3" descr="gen-dedup-52dccc59e6eb896fdaede2253b9b29fa.png">    </p:cNvPr>
          <p:cNvPicPr>
            <a:picLocks noChangeAspect="1"/>
          </p:cNvPicPr>
          <p:nvPr/>
        </p:nvPicPr>
        <p:blipFill>
          <a:blip r:embed="rId4"/>
          <a:srcRect l="-205" r="-205" t="0" b="0"/>
          <a:stretch/>
        </p:blipFill>
        <p:spPr>
          <a:xfrm>
            <a:off x="8953805" y="4286707"/>
            <a:ext cx="3810305" cy="75895"/>
          </a:xfrm>
          <a:prstGeom prst="rect">
            <a:avLst/>
          </a:prstGeom>
        </p:spPr>
      </p:pic>
      <p:pic>
        <p:nvPicPr>
          <p:cNvPr id="12" name="Image 4" descr="gen-dedup-10743711a24cdfed585bc87daf2a058d.png">    </p:cNvPr>
          <p:cNvPicPr>
            <a:picLocks noChangeAspect="1"/>
          </p:cNvPicPr>
          <p:nvPr/>
        </p:nvPicPr>
        <p:blipFill>
          <a:blip r:embed="rId5"/>
          <a:srcRect l="-205" r="-205" t="0" b="0"/>
          <a:stretch/>
        </p:blipFill>
        <p:spPr>
          <a:xfrm>
            <a:off x="4953305" y="4286707"/>
            <a:ext cx="3810305" cy="75895"/>
          </a:xfrm>
          <a:prstGeom prst="rect">
            <a:avLst/>
          </a:prstGeom>
        </p:spPr>
      </p:pic>
      <p:pic>
        <p:nvPicPr>
          <p:cNvPr id="13" name="Image 5" descr="gen-dedup-10743711a24cdfed585bc87daf2a058d.png">    </p:cNvPr>
          <p:cNvPicPr>
            <a:picLocks noChangeAspect="1"/>
          </p:cNvPicPr>
          <p:nvPr/>
        </p:nvPicPr>
        <p:blipFill>
          <a:blip r:embed="rId6"/>
          <a:srcRect l="-205" r="-205" t="0" b="0"/>
          <a:stretch/>
        </p:blipFill>
        <p:spPr>
          <a:xfrm>
            <a:off x="952805" y="4286707"/>
            <a:ext cx="3810305" cy="75895"/>
          </a:xfrm>
          <a:prstGeom prst="rect">
            <a:avLst/>
          </a:prstGeom>
        </p:spPr>
      </p:pic>
      <p:pic>
        <p:nvPicPr>
          <p:cNvPr id="14" name="Image 6" descr="gen-dedup-1cbe01caf53ae3da225c023ff1f746f3.png">    </p:cNvPr>
          <p:cNvPicPr>
            <a:picLocks noChangeAspect="1"/>
          </p:cNvPicPr>
          <p:nvPr/>
        </p:nvPicPr>
        <p:blipFill>
          <a:blip r:embed="rId7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17526305" y="4426610"/>
            <a:ext cx="762610" cy="1438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VALUE · 03</a:t>
            </a:r>
            <a:endParaRPr lang="en-US" sz="1200" dirty="0"/>
          </a:p>
        </p:txBody>
      </p:sp>
      <p:pic>
        <p:nvPicPr>
          <p:cNvPr id="16" name="Image 7" descr="gen-dedup-234702c931b0eb0b7ee5efffe867f37e.png">    </p:cNvPr>
          <p:cNvPicPr>
            <a:picLocks noChangeAspect="1"/>
          </p:cNvPicPr>
          <p:nvPr/>
        </p:nvPicPr>
        <p:blipFill>
          <a:blip r:embed="rId8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16306495" y="457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C35"/>
            </a:solidFill>
            <a:prstDash val="solid"/>
          </a:ln>
        </p:spPr>
      </p:sp>
      <p:pic>
        <p:nvPicPr>
          <p:cNvPr id="18" name="Image 8" descr="gen-dedup-f2e56aa6188aed7e3cf480ac0f83db5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6402507" y="552298"/>
            <a:ext cx="267005" cy="267005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3484657" y="540410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20" name="Text 9"/>
          <p:cNvSpPr txBox="1"/>
          <p:nvPr/>
        </p:nvSpPr>
        <p:spPr>
          <a:xfrm>
            <a:off x="13484657" y="707746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21" name="Text 10"/>
          <p:cNvSpPr txBox="1"/>
          <p:nvPr/>
        </p:nvSpPr>
        <p:spPr>
          <a:xfrm>
            <a:off x="761695" y="1524305"/>
            <a:ext cx="1600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٠٣ — القيمة المُضافة</a:t>
            </a:r>
            <a:endParaRPr lang="en-US" sz="1000" dirty="0"/>
          </a:p>
        </p:txBody>
      </p:sp>
      <p:sp>
        <p:nvSpPr>
          <p:cNvPr id="22" name="Text 11"/>
          <p:cNvSpPr txBox="1"/>
          <p:nvPr/>
        </p:nvSpPr>
        <p:spPr>
          <a:xfrm>
            <a:off x="761695" y="1819656"/>
            <a:ext cx="16002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فائدة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لكل مستفيد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في المنظومة</a:t>
            </a:r>
            <a:endParaRPr lang="en-US" sz="4200" dirty="0"/>
          </a:p>
        </p:txBody>
      </p:sp>
      <p:sp>
        <p:nvSpPr>
          <p:cNvPr id="23" name="Text 12"/>
          <p:cNvSpPr txBox="1"/>
          <p:nvPr/>
        </p:nvSpPr>
        <p:spPr>
          <a:xfrm>
            <a:off x="4381805" y="2539289"/>
            <a:ext cx="12382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قيمة النظام لا تنحصر في طرف واحد — كل دور في الهرم الإداري يحصل على نتيجة مُحدَّدة وقابلة للقياس.</a:t>
            </a:r>
            <a:endParaRPr lang="en-US" sz="1600" dirty="0"/>
          </a:p>
        </p:txBody>
      </p:sp>
      <p:sp>
        <p:nvSpPr>
          <p:cNvPr id="24" name="Shape 13"/>
          <p:cNvSpPr/>
          <p:nvPr/>
        </p:nvSpPr>
        <p:spPr>
          <a:xfrm>
            <a:off x="15868498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25" name="Image 9" descr="gen-dedup-8c4e1024243fa59b70cc763bbe8adad5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6021202" y="4705502"/>
            <a:ext cx="323698" cy="323698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13220395" y="4785970"/>
            <a:ext cx="1417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٠١</a:t>
            </a:r>
            <a:endParaRPr lang="en-US" sz="1000" dirty="0"/>
          </a:p>
        </p:txBody>
      </p:sp>
      <p:sp>
        <p:nvSpPr>
          <p:cNvPr id="27" name="Text 15"/>
          <p:cNvSpPr txBox="1"/>
          <p:nvPr/>
        </p:nvSpPr>
        <p:spPr>
          <a:xfrm>
            <a:off x="13220395" y="5410505"/>
            <a:ext cx="3277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المدقِّق</a:t>
            </a:r>
            <a:endParaRPr lang="en-US" sz="2400" dirty="0"/>
          </a:p>
        </p:txBody>
      </p:sp>
      <p:sp>
        <p:nvSpPr>
          <p:cNvPr id="28" name="Text 16"/>
          <p:cNvSpPr txBox="1"/>
          <p:nvPr/>
        </p:nvSpPr>
        <p:spPr>
          <a:xfrm>
            <a:off x="13220395" y="580278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END-USER</a:t>
            </a:r>
            <a:endParaRPr lang="en-US" sz="900" dirty="0"/>
          </a:p>
        </p:txBody>
      </p:sp>
      <p:pic>
        <p:nvPicPr>
          <p:cNvPr id="29" name="Image 10" descr="gen-dedup-6192ceeba0217ca269770f3983491f12.png">    </p:cNvPr>
          <p:cNvPicPr>
            <a:picLocks noChangeAspect="1"/>
          </p:cNvPicPr>
          <p:nvPr/>
        </p:nvPicPr>
        <p:blipFill>
          <a:blip r:embed="rId11"/>
          <a:srcRect l="-2078" r="-2078" t="0" b="0"/>
          <a:stretch/>
        </p:blipFill>
        <p:spPr>
          <a:xfrm>
            <a:off x="13220395" y="6145682"/>
            <a:ext cx="3276295" cy="9144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13220395" y="6345022"/>
            <a:ext cx="3277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القيمة الرئيسية</a:t>
            </a:r>
            <a:endParaRPr lang="en-US" sz="900" dirty="0"/>
          </a:p>
        </p:txBody>
      </p:sp>
      <p:sp>
        <p:nvSpPr>
          <p:cNvPr id="31" name="Text 18"/>
          <p:cNvSpPr txBox="1"/>
          <p:nvPr/>
        </p:nvSpPr>
        <p:spPr>
          <a:xfrm>
            <a:off x="13220395" y="6573622"/>
            <a:ext cx="3277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سرعة استحضار المعلومة</a:t>
            </a:r>
            <a:endParaRPr lang="en-US" sz="1600" dirty="0"/>
          </a:p>
        </p:txBody>
      </p:sp>
      <p:pic>
        <p:nvPicPr>
          <p:cNvPr id="32" name="Image 11" descr="gen-dedup-6192ceeba0217ca269770f3983491f12.png">    </p:cNvPr>
          <p:cNvPicPr>
            <a:picLocks noChangeAspect="1"/>
          </p:cNvPicPr>
          <p:nvPr/>
        </p:nvPicPr>
        <p:blipFill>
          <a:blip r:embed="rId12"/>
          <a:srcRect l="-2078" r="-2078" t="0" b="0"/>
          <a:stretch/>
        </p:blipFill>
        <p:spPr>
          <a:xfrm>
            <a:off x="13220395" y="7018020"/>
            <a:ext cx="3276295" cy="9144"/>
          </a:xfrm>
          <a:prstGeom prst="rect">
            <a:avLst/>
          </a:prstGeom>
        </p:spPr>
      </p:pic>
      <p:sp>
        <p:nvSpPr>
          <p:cNvPr id="33" name="Shape 19"/>
          <p:cNvSpPr/>
          <p:nvPr/>
        </p:nvSpPr>
        <p:spPr>
          <a:xfrm>
            <a:off x="16439998" y="7274966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0"/>
          <p:cNvSpPr txBox="1"/>
          <p:nvPr/>
        </p:nvSpPr>
        <p:spPr>
          <a:xfrm>
            <a:off x="13979347" y="7199071"/>
            <a:ext cx="2799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قائمة اشتراطات مُحدَّدة آليًّا حسب الفلاتر</a:t>
            </a:r>
            <a:endParaRPr lang="en-US" sz="1100" dirty="0"/>
          </a:p>
        </p:txBody>
      </p:sp>
      <p:sp>
        <p:nvSpPr>
          <p:cNvPr id="35" name="Shape 21"/>
          <p:cNvSpPr/>
          <p:nvPr/>
        </p:nvSpPr>
        <p:spPr>
          <a:xfrm>
            <a:off x="16439998" y="7629754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2"/>
          <p:cNvSpPr txBox="1"/>
          <p:nvPr/>
        </p:nvSpPr>
        <p:spPr>
          <a:xfrm>
            <a:off x="14197889" y="7553858"/>
            <a:ext cx="2539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توليد تقرير تدقيق متكامل بنقرة واحدة</a:t>
            </a:r>
            <a:endParaRPr lang="en-US" sz="1100" dirty="0"/>
          </a:p>
        </p:txBody>
      </p:sp>
      <p:sp>
        <p:nvSpPr>
          <p:cNvPr id="37" name="Shape 23"/>
          <p:cNvSpPr/>
          <p:nvPr/>
        </p:nvSpPr>
        <p:spPr>
          <a:xfrm>
            <a:off x="16439998" y="7984541"/>
            <a:ext cx="57607" cy="57607"/>
          </a:xfrm>
          <a:prstGeom prst="ellipse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4"/>
          <p:cNvSpPr txBox="1"/>
          <p:nvPr/>
        </p:nvSpPr>
        <p:spPr>
          <a:xfrm>
            <a:off x="14361566" y="7908646"/>
            <a:ext cx="234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مرجع موحَّد يُغني عن البحث اليدوي</a:t>
            </a:r>
            <a:endParaRPr lang="en-US" sz="1100" dirty="0"/>
          </a:p>
        </p:txBody>
      </p:sp>
      <p:sp>
        <p:nvSpPr>
          <p:cNvPr id="39" name="Shape 25"/>
          <p:cNvSpPr/>
          <p:nvPr/>
        </p:nvSpPr>
        <p:spPr>
          <a:xfrm>
            <a:off x="11867998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40" name="Image 12" descr="gen-dedup-f0b6e1b5c708c21b87c5c7febf592193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2020702" y="4705502"/>
            <a:ext cx="323698" cy="323698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9219895" y="4785970"/>
            <a:ext cx="1737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٠٢</a:t>
            </a:r>
            <a:endParaRPr lang="en-US" sz="1000" dirty="0"/>
          </a:p>
        </p:txBody>
      </p:sp>
      <p:sp>
        <p:nvSpPr>
          <p:cNvPr id="42" name="Text 27"/>
          <p:cNvSpPr txBox="1"/>
          <p:nvPr/>
        </p:nvSpPr>
        <p:spPr>
          <a:xfrm>
            <a:off x="9219895" y="5410505"/>
            <a:ext cx="3277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المشرف</a:t>
            </a:r>
            <a:endParaRPr lang="en-US" sz="2400" dirty="0"/>
          </a:p>
        </p:txBody>
      </p:sp>
      <p:sp>
        <p:nvSpPr>
          <p:cNvPr id="43" name="Text 28"/>
          <p:cNvSpPr txBox="1"/>
          <p:nvPr/>
        </p:nvSpPr>
        <p:spPr>
          <a:xfrm>
            <a:off x="9219895" y="580278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SUPERVISOR</a:t>
            </a:r>
            <a:endParaRPr lang="en-US" sz="900" dirty="0"/>
          </a:p>
        </p:txBody>
      </p:sp>
      <p:pic>
        <p:nvPicPr>
          <p:cNvPr id="44" name="Image 13" descr="gen-dedup-6192ceeba0217ca269770f3983491f12.png">    </p:cNvPr>
          <p:cNvPicPr>
            <a:picLocks noChangeAspect="1"/>
          </p:cNvPicPr>
          <p:nvPr/>
        </p:nvPicPr>
        <p:blipFill>
          <a:blip r:embed="rId14"/>
          <a:srcRect l="-2078" r="-2078" t="0" b="0"/>
          <a:stretch/>
        </p:blipFill>
        <p:spPr>
          <a:xfrm>
            <a:off x="9219895" y="6145682"/>
            <a:ext cx="3276295" cy="9144"/>
          </a:xfrm>
          <a:prstGeom prst="rect">
            <a:avLst/>
          </a:prstGeom>
        </p:spPr>
      </p:pic>
      <p:sp>
        <p:nvSpPr>
          <p:cNvPr id="45" name="Text 29"/>
          <p:cNvSpPr txBox="1"/>
          <p:nvPr/>
        </p:nvSpPr>
        <p:spPr>
          <a:xfrm>
            <a:off x="9219895" y="6345022"/>
            <a:ext cx="3277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القيمة الرئيسية</a:t>
            </a:r>
            <a:endParaRPr lang="en-US" sz="900" dirty="0"/>
          </a:p>
        </p:txBody>
      </p:sp>
      <p:sp>
        <p:nvSpPr>
          <p:cNvPr id="46" name="Text 30"/>
          <p:cNvSpPr txBox="1"/>
          <p:nvPr/>
        </p:nvSpPr>
        <p:spPr>
          <a:xfrm>
            <a:off x="9219895" y="6573622"/>
            <a:ext cx="3277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تقليل الأخطاء الصادرة</a:t>
            </a:r>
            <a:endParaRPr lang="en-US" sz="1600" dirty="0"/>
          </a:p>
        </p:txBody>
      </p:sp>
      <p:pic>
        <p:nvPicPr>
          <p:cNvPr id="47" name="Image 14" descr="gen-dedup-6192ceeba0217ca269770f3983491f12.png">    </p:cNvPr>
          <p:cNvPicPr>
            <a:picLocks noChangeAspect="1"/>
          </p:cNvPicPr>
          <p:nvPr/>
        </p:nvPicPr>
        <p:blipFill>
          <a:blip r:embed="rId15"/>
          <a:srcRect l="-2078" r="-2078" t="0" b="0"/>
          <a:stretch/>
        </p:blipFill>
        <p:spPr>
          <a:xfrm>
            <a:off x="9219895" y="7018020"/>
            <a:ext cx="3276295" cy="9144"/>
          </a:xfrm>
          <a:prstGeom prst="rect">
            <a:avLst/>
          </a:prstGeom>
        </p:spPr>
      </p:pic>
      <p:sp>
        <p:nvSpPr>
          <p:cNvPr id="48" name="Shape 31"/>
          <p:cNvSpPr/>
          <p:nvPr/>
        </p:nvSpPr>
        <p:spPr>
          <a:xfrm>
            <a:off x="12439498" y="7274966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2"/>
          <p:cNvSpPr txBox="1"/>
          <p:nvPr/>
        </p:nvSpPr>
        <p:spPr>
          <a:xfrm>
            <a:off x="9900209" y="7199071"/>
            <a:ext cx="2890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منع تطبيق اشتراط على نوع طلب لا يخصُّه</a:t>
            </a:r>
            <a:endParaRPr lang="en-US" sz="1100" dirty="0"/>
          </a:p>
        </p:txBody>
      </p:sp>
      <p:sp>
        <p:nvSpPr>
          <p:cNvPr id="50" name="Shape 33"/>
          <p:cNvSpPr/>
          <p:nvPr/>
        </p:nvSpPr>
        <p:spPr>
          <a:xfrm>
            <a:off x="12439498" y="7629754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4"/>
          <p:cNvSpPr txBox="1"/>
          <p:nvPr/>
        </p:nvSpPr>
        <p:spPr>
          <a:xfrm>
            <a:off x="10613441" y="7553858"/>
            <a:ext cx="20409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قوالب موحَّدة لتقارير المراجعة</a:t>
            </a:r>
            <a:endParaRPr lang="en-US" sz="1100" dirty="0"/>
          </a:p>
        </p:txBody>
      </p:sp>
      <p:sp>
        <p:nvSpPr>
          <p:cNvPr id="52" name="Shape 35"/>
          <p:cNvSpPr/>
          <p:nvPr/>
        </p:nvSpPr>
        <p:spPr>
          <a:xfrm>
            <a:off x="12439498" y="7984541"/>
            <a:ext cx="57607" cy="57607"/>
          </a:xfrm>
          <a:prstGeom prst="ellipse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6"/>
          <p:cNvSpPr txBox="1"/>
          <p:nvPr/>
        </p:nvSpPr>
        <p:spPr>
          <a:xfrm>
            <a:off x="9979762" y="7908646"/>
            <a:ext cx="2799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سجل بصمات يُسهِّل المراجعة العكسية</a:t>
            </a:r>
            <a:endParaRPr lang="en-US" sz="1100" dirty="0"/>
          </a:p>
        </p:txBody>
      </p:sp>
      <p:sp>
        <p:nvSpPr>
          <p:cNvPr id="54" name="Shape 37"/>
          <p:cNvSpPr/>
          <p:nvPr/>
        </p:nvSpPr>
        <p:spPr>
          <a:xfrm>
            <a:off x="7867498" y="4552798"/>
            <a:ext cx="6291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55" name="Image 15" descr="gen-dedup-87da6dbeb799c481009f0a8dc460bb64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020202" y="4705502"/>
            <a:ext cx="323698" cy="323698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5219395" y="4785970"/>
            <a:ext cx="2139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٠٣</a:t>
            </a:r>
            <a:endParaRPr lang="en-US" sz="1000" dirty="0"/>
          </a:p>
        </p:txBody>
      </p:sp>
      <p:sp>
        <p:nvSpPr>
          <p:cNvPr id="57" name="Text 39"/>
          <p:cNvSpPr txBox="1"/>
          <p:nvPr/>
        </p:nvSpPr>
        <p:spPr>
          <a:xfrm>
            <a:off x="5219395" y="5410505"/>
            <a:ext cx="3277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مدير الإدارة</a:t>
            </a:r>
            <a:endParaRPr lang="en-US" sz="2400" dirty="0"/>
          </a:p>
        </p:txBody>
      </p:sp>
      <p:sp>
        <p:nvSpPr>
          <p:cNvPr id="58" name="Text 40"/>
          <p:cNvSpPr txBox="1"/>
          <p:nvPr/>
        </p:nvSpPr>
        <p:spPr>
          <a:xfrm>
            <a:off x="5219395" y="580278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MANAGER</a:t>
            </a:r>
            <a:endParaRPr lang="en-US" sz="900" dirty="0"/>
          </a:p>
        </p:txBody>
      </p:sp>
      <p:pic>
        <p:nvPicPr>
          <p:cNvPr id="59" name="Image 16" descr="gen-dedup-6192ceeba0217ca269770f3983491f12.png">    </p:cNvPr>
          <p:cNvPicPr>
            <a:picLocks noChangeAspect="1"/>
          </p:cNvPicPr>
          <p:nvPr/>
        </p:nvPicPr>
        <p:blipFill>
          <a:blip r:embed="rId17"/>
          <a:srcRect l="-2078" r="-2078" t="0" b="0"/>
          <a:stretch/>
        </p:blipFill>
        <p:spPr>
          <a:xfrm>
            <a:off x="5219395" y="6145682"/>
            <a:ext cx="3276295" cy="9144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5219395" y="6345022"/>
            <a:ext cx="3277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القيمة الرئيسية</a:t>
            </a:r>
            <a:endParaRPr lang="en-US" sz="900" dirty="0"/>
          </a:p>
        </p:txBody>
      </p:sp>
      <p:sp>
        <p:nvSpPr>
          <p:cNvPr id="61" name="Text 42"/>
          <p:cNvSpPr txBox="1"/>
          <p:nvPr/>
        </p:nvSpPr>
        <p:spPr>
          <a:xfrm>
            <a:off x="5219395" y="6573622"/>
            <a:ext cx="3277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متابعة الأداء والتحليل</a:t>
            </a:r>
            <a:endParaRPr lang="en-US" sz="1600" dirty="0"/>
          </a:p>
        </p:txBody>
      </p:sp>
      <p:pic>
        <p:nvPicPr>
          <p:cNvPr id="62" name="Image 17" descr="gen-dedup-6192ceeba0217ca269770f3983491f12.png">    </p:cNvPr>
          <p:cNvPicPr>
            <a:picLocks noChangeAspect="1"/>
          </p:cNvPicPr>
          <p:nvPr/>
        </p:nvPicPr>
        <p:blipFill>
          <a:blip r:embed="rId18"/>
          <a:srcRect l="-2078" r="-2078" t="0" b="0"/>
          <a:stretch/>
        </p:blipFill>
        <p:spPr>
          <a:xfrm>
            <a:off x="5219395" y="7018020"/>
            <a:ext cx="3276295" cy="9144"/>
          </a:xfrm>
          <a:prstGeom prst="rect">
            <a:avLst/>
          </a:prstGeom>
        </p:spPr>
      </p:pic>
      <p:sp>
        <p:nvSpPr>
          <p:cNvPr id="63" name="Shape 43"/>
          <p:cNvSpPr/>
          <p:nvPr/>
        </p:nvSpPr>
        <p:spPr>
          <a:xfrm>
            <a:off x="8438998" y="7274966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44"/>
          <p:cNvSpPr txBox="1"/>
          <p:nvPr/>
        </p:nvSpPr>
        <p:spPr>
          <a:xfrm>
            <a:off x="5787238" y="7199071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متابعة تفصيل الطلبات على مستوى المدقِّق</a:t>
            </a:r>
            <a:endParaRPr lang="en-US" sz="1100" dirty="0"/>
          </a:p>
        </p:txBody>
      </p:sp>
      <p:sp>
        <p:nvSpPr>
          <p:cNvPr id="65" name="Shape 45"/>
          <p:cNvSpPr/>
          <p:nvPr/>
        </p:nvSpPr>
        <p:spPr>
          <a:xfrm>
            <a:off x="8438998" y="7629754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46"/>
          <p:cNvSpPr txBox="1"/>
          <p:nvPr/>
        </p:nvSpPr>
        <p:spPr>
          <a:xfrm>
            <a:off x="5894222" y="7553858"/>
            <a:ext cx="29023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مقارنة أداء الموظفين بمؤشرات موضوعية</a:t>
            </a:r>
            <a:endParaRPr lang="en-US" sz="1100" dirty="0"/>
          </a:p>
        </p:txBody>
      </p:sp>
      <p:sp>
        <p:nvSpPr>
          <p:cNvPr id="67" name="Shape 47"/>
          <p:cNvSpPr/>
          <p:nvPr/>
        </p:nvSpPr>
        <p:spPr>
          <a:xfrm>
            <a:off x="8438998" y="7984541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48"/>
          <p:cNvSpPr txBox="1"/>
          <p:nvPr/>
        </p:nvSpPr>
        <p:spPr>
          <a:xfrm>
            <a:off x="6320333" y="7908646"/>
            <a:ext cx="23920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تحليلات تكشف الاختناقات والفُرص</a:t>
            </a:r>
            <a:endParaRPr lang="en-US" sz="1100" dirty="0"/>
          </a:p>
        </p:txBody>
      </p:sp>
      <p:sp>
        <p:nvSpPr>
          <p:cNvPr id="69" name="Shape 49"/>
          <p:cNvSpPr/>
          <p:nvPr/>
        </p:nvSpPr>
        <p:spPr>
          <a:xfrm>
            <a:off x="3866998" y="4552798"/>
            <a:ext cx="629107" cy="629107"/>
          </a:xfrm>
          <a:prstGeom prst="rect">
            <a:avLst/>
          </a:prstGeom>
          <a:solidFill>
            <a:srgbClr val="C9A961">
              <a:alpha val="15000"/>
            </a:srgbClr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70" name="Image 18" descr="gen-dedup-ad2173eb63eadcf248d054d2a66736da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019702" y="4705502"/>
            <a:ext cx="323698" cy="323698"/>
          </a:xfrm>
          <a:prstGeom prst="rect">
            <a:avLst/>
          </a:prstGeom>
        </p:spPr>
      </p:pic>
      <p:sp>
        <p:nvSpPr>
          <p:cNvPr id="71" name="Text 50"/>
          <p:cNvSpPr txBox="1"/>
          <p:nvPr/>
        </p:nvSpPr>
        <p:spPr>
          <a:xfrm>
            <a:off x="1218895" y="4785970"/>
            <a:ext cx="17373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٠٤</a:t>
            </a:r>
            <a:endParaRPr lang="en-US" sz="1000" dirty="0"/>
          </a:p>
        </p:txBody>
      </p:sp>
      <p:sp>
        <p:nvSpPr>
          <p:cNvPr id="72" name="Text 51"/>
          <p:cNvSpPr txBox="1"/>
          <p:nvPr/>
        </p:nvSpPr>
        <p:spPr>
          <a:xfrm>
            <a:off x="1218895" y="5410505"/>
            <a:ext cx="32772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الإدارة العليا</a:t>
            </a:r>
            <a:endParaRPr lang="en-US" sz="2400" dirty="0"/>
          </a:p>
        </p:txBody>
      </p:sp>
      <p:sp>
        <p:nvSpPr>
          <p:cNvPr id="73" name="Text 52"/>
          <p:cNvSpPr txBox="1"/>
          <p:nvPr/>
        </p:nvSpPr>
        <p:spPr>
          <a:xfrm>
            <a:off x="1218895" y="5802782"/>
            <a:ext cx="3277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EXECUTIVE</a:t>
            </a:r>
            <a:endParaRPr lang="en-US" sz="900" dirty="0"/>
          </a:p>
        </p:txBody>
      </p:sp>
      <p:pic>
        <p:nvPicPr>
          <p:cNvPr id="74" name="Image 19" descr="gen-dedup-fe16edf784ef69d799bbe6ef5ad07627.png">    </p:cNvPr>
          <p:cNvPicPr>
            <a:picLocks noChangeAspect="1"/>
          </p:cNvPicPr>
          <p:nvPr/>
        </p:nvPicPr>
        <p:blipFill>
          <a:blip r:embed="rId20"/>
          <a:srcRect l="-2078" r="-2078" t="0" b="0"/>
          <a:stretch/>
        </p:blipFill>
        <p:spPr>
          <a:xfrm>
            <a:off x="1218895" y="6145682"/>
            <a:ext cx="3276295" cy="9144"/>
          </a:xfrm>
          <a:prstGeom prst="rect">
            <a:avLst/>
          </a:prstGeom>
        </p:spPr>
      </p:pic>
      <p:sp>
        <p:nvSpPr>
          <p:cNvPr id="75" name="Text 53"/>
          <p:cNvSpPr txBox="1"/>
          <p:nvPr/>
        </p:nvSpPr>
        <p:spPr>
          <a:xfrm>
            <a:off x="1218895" y="6345022"/>
            <a:ext cx="3277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القيمة الرئيسية</a:t>
            </a:r>
            <a:endParaRPr lang="en-US" sz="900" dirty="0"/>
          </a:p>
        </p:txBody>
      </p:sp>
      <p:sp>
        <p:nvSpPr>
          <p:cNvPr id="76" name="Text 54"/>
          <p:cNvSpPr txBox="1"/>
          <p:nvPr/>
        </p:nvSpPr>
        <p:spPr>
          <a:xfrm>
            <a:off x="1218895" y="6573622"/>
            <a:ext cx="362285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قياس الأداء ورضى المستفيدين</a:t>
            </a:r>
            <a:endParaRPr lang="en-US" sz="1600" dirty="0"/>
          </a:p>
        </p:txBody>
      </p:sp>
      <p:pic>
        <p:nvPicPr>
          <p:cNvPr id="77" name="Image 20" descr="gen-dedup-fe16edf784ef69d799bbe6ef5ad07627.png">    </p:cNvPr>
          <p:cNvPicPr>
            <a:picLocks noChangeAspect="1"/>
          </p:cNvPicPr>
          <p:nvPr/>
        </p:nvPicPr>
        <p:blipFill>
          <a:blip r:embed="rId21"/>
          <a:srcRect l="-2078" r="-2078" t="0" b="0"/>
          <a:stretch/>
        </p:blipFill>
        <p:spPr>
          <a:xfrm>
            <a:off x="1218895" y="7018020"/>
            <a:ext cx="3276295" cy="9144"/>
          </a:xfrm>
          <a:prstGeom prst="rect">
            <a:avLst/>
          </a:prstGeom>
        </p:spPr>
      </p:pic>
      <p:sp>
        <p:nvSpPr>
          <p:cNvPr id="78" name="Shape 55"/>
          <p:cNvSpPr/>
          <p:nvPr/>
        </p:nvSpPr>
        <p:spPr>
          <a:xfrm>
            <a:off x="4438498" y="7274966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56"/>
          <p:cNvSpPr txBox="1"/>
          <p:nvPr/>
        </p:nvSpPr>
        <p:spPr>
          <a:xfrm>
            <a:off x="2418588" y="7199071"/>
            <a:ext cx="2278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الشكاوى عبر تجويد التدقيق</a:t>
            </a:r>
            <a:endParaRPr lang="en-US" sz="1100" dirty="0"/>
          </a:p>
        </p:txBody>
      </p:sp>
      <p:sp>
        <p:nvSpPr>
          <p:cNvPr id="80" name="Shape 57"/>
          <p:cNvSpPr/>
          <p:nvPr/>
        </p:nvSpPr>
        <p:spPr>
          <a:xfrm>
            <a:off x="4438498" y="7629754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58"/>
          <p:cNvSpPr txBox="1"/>
          <p:nvPr/>
        </p:nvSpPr>
        <p:spPr>
          <a:xfrm>
            <a:off x="2158898" y="7553858"/>
            <a:ext cx="25850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استعراض النتائج بلوحة قيادة متكاملة</a:t>
            </a:r>
            <a:endParaRPr lang="en-US" sz="1100" dirty="0"/>
          </a:p>
        </p:txBody>
      </p:sp>
      <p:sp>
        <p:nvSpPr>
          <p:cNvPr id="82" name="Shape 59"/>
          <p:cNvSpPr/>
          <p:nvPr/>
        </p:nvSpPr>
        <p:spPr>
          <a:xfrm>
            <a:off x="4438498" y="7984541"/>
            <a:ext cx="57607" cy="57607"/>
          </a:xfrm>
          <a:prstGeom prst="ellipse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60"/>
          <p:cNvSpPr txBox="1"/>
          <p:nvPr/>
        </p:nvSpPr>
        <p:spPr>
          <a:xfrm>
            <a:off x="2199132" y="7908646"/>
            <a:ext cx="25392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قرارات مبنيَّة على بيانات لا على انطباع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935102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34602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34102" y="4190695"/>
            <a:ext cx="3829507" cy="19238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52805" y="4190695"/>
            <a:ext cx="3810305" cy="1904695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77102" y="6476695"/>
            <a:ext cx="10687507" cy="2781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3602" y="6476695"/>
            <a:ext cx="4972507" cy="2781605"/>
          </a:xfrm>
          <a:prstGeom prst="rect">
            <a:avLst/>
          </a:prstGeom>
          <a:solidFill>
            <a:srgbClr val="FAF8F2"/>
          </a:solidFill>
          <a:ln w="12700">
            <a:solidFill>
              <a:srgbClr val="D8DEE8"/>
            </a:solidFill>
            <a:prstDash val="solid"/>
          </a:ln>
        </p:spPr>
      </p:sp>
      <p:pic>
        <p:nvPicPr>
          <p:cNvPr id="11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12" name="Image 2" descr="gen-dedup-1cbe01caf53ae3da225c023ff1f746f3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526305" y="4522622"/>
            <a:ext cx="762610" cy="1248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KPIs · 04</a:t>
            </a:r>
            <a:endParaRPr lang="en-US" sz="1200" dirty="0"/>
          </a:p>
        </p:txBody>
      </p:sp>
      <p:pic>
        <p:nvPicPr>
          <p:cNvPr id="14" name="Image 3" descr="gen-dedup-234702c931b0eb0b7ee5efffe867f37e.png">    </p:cNvPr>
          <p:cNvPicPr>
            <a:picLocks noChangeAspect="1"/>
          </p:cNvPicPr>
          <p:nvPr/>
        </p:nvPicPr>
        <p:blipFill>
          <a:blip r:embed="rId4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6306495" y="457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C35"/>
            </a:solidFill>
            <a:prstDash val="solid"/>
          </a:ln>
        </p:spPr>
      </p:sp>
      <p:pic>
        <p:nvPicPr>
          <p:cNvPr id="16" name="Image 4" descr="gen-dedup-f2e56aa6188aed7e3cf480ac0f83db5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402507" y="552298"/>
            <a:ext cx="267005" cy="2670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484657" y="540410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13484657" y="707746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19" name="Text 12"/>
          <p:cNvSpPr txBox="1"/>
          <p:nvPr/>
        </p:nvSpPr>
        <p:spPr>
          <a:xfrm>
            <a:off x="4381805" y="1524305"/>
            <a:ext cx="1238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٠٤ — أداة الإدارة العليا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381805" y="1819656"/>
            <a:ext cx="12382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لوحة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مؤشرات الأداء</a:t>
            </a:r>
            <a:endParaRPr lang="en-US" sz="4200" dirty="0"/>
          </a:p>
        </p:txBody>
      </p:sp>
      <p:sp>
        <p:nvSpPr>
          <p:cNvPr id="21" name="Text 14"/>
          <p:cNvSpPr txBox="1"/>
          <p:nvPr/>
        </p:nvSpPr>
        <p:spPr>
          <a:xfrm>
            <a:off x="4953305" y="2539289"/>
            <a:ext cx="124971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ثلاث عدسات (نظرة عامة · تحليل · تقارير) وأربعة فلاتر إدارية، لقياس أداء التدقيق ورصد رضى المستفيدين.</a:t>
            </a:r>
            <a:endParaRPr lang="en-US" sz="1600" dirty="0"/>
          </a:p>
        </p:txBody>
      </p:sp>
      <p:pic>
        <p:nvPicPr>
          <p:cNvPr id="22" name="Image 5" descr="gen-dedup-3e1cab83178dba73b99fe9cc31259a2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344875" y="1990649"/>
            <a:ext cx="133502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23544" y="1904695"/>
            <a:ext cx="23344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الأرقام placeholders — تُحدَّث بعد التطبيق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761695" y="1904695"/>
            <a:ext cx="2885846" cy="304495"/>
          </a:xfrm>
          <a:prstGeom prst="rect">
            <a:avLst/>
          </a:prstGeom>
          <a:solidFill>
            <a:srgbClr val="FFFAEB"/>
          </a:solidFill>
          <a:ln w="12700">
            <a:solidFill>
              <a:srgbClr val="B54708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15200986" y="4419295"/>
            <a:ext cx="175381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إجمالي التدقيقات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5552115" y="4686300"/>
            <a:ext cx="135514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— —</a:t>
            </a:r>
            <a:endParaRPr lang="en-US" sz="5400" dirty="0"/>
          </a:p>
        </p:txBody>
      </p:sp>
      <p:sp>
        <p:nvSpPr>
          <p:cNvPr id="27" name="Text 19"/>
          <p:cNvSpPr txBox="1"/>
          <p:nvPr/>
        </p:nvSpPr>
        <p:spPr>
          <a:xfrm>
            <a:off x="15200986" y="499079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طلب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13182905" y="4419295"/>
            <a:ext cx="457200" cy="4572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6" descr="gen-dedup-ca8ff36c914059028911670150e94463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3287146" y="4524451"/>
            <a:ext cx="247802" cy="24780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13182905" y="547451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16051378" y="5618074"/>
            <a:ext cx="486461" cy="191110"/>
          </a:xfrm>
          <a:prstGeom prst="rect">
            <a:avLst/>
          </a:prstGeom>
          <a:solidFill>
            <a:srgbClr val="ECFD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▲ — %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14877288" y="5637276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مقارنةً بالشهر السابق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1155680" y="4419295"/>
            <a:ext cx="185257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متوسط زمن التدقيق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11551615" y="4686300"/>
            <a:ext cx="135514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— —</a:t>
            </a:r>
            <a:endParaRPr lang="en-US" sz="5400" dirty="0"/>
          </a:p>
        </p:txBody>
      </p:sp>
      <p:sp>
        <p:nvSpPr>
          <p:cNvPr id="35" name="Text 26"/>
          <p:cNvSpPr txBox="1"/>
          <p:nvPr/>
        </p:nvSpPr>
        <p:spPr>
          <a:xfrm>
            <a:off x="11155680" y="4990795"/>
            <a:ext cx="4489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دقيقة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9182405" y="4419295"/>
            <a:ext cx="457200" cy="457200"/>
          </a:xfrm>
          <a:prstGeom prst="rect">
            <a:avLst/>
          </a:prstGeom>
          <a:solidFill>
            <a:srgbClr val="FAF6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7" descr="gen-dedup-82ae7af4bc9d69aa020eeea87cf0ebe6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286646" y="4524451"/>
            <a:ext cx="247802" cy="24780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182405" y="547451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12050878" y="5618074"/>
            <a:ext cx="486461" cy="191110"/>
          </a:xfrm>
          <a:prstGeom prst="rect">
            <a:avLst/>
          </a:prstGeom>
          <a:solidFill>
            <a:srgbClr val="ECFD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▼ — %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10725912" y="5637276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تحسُّن في زمن الاستجابة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7323430" y="4419295"/>
            <a:ext cx="14511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نسبة القبول من أول مرة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7551115" y="4686300"/>
            <a:ext cx="135514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— —</a:t>
            </a:r>
            <a:endParaRPr lang="en-US" sz="5400" dirty="0"/>
          </a:p>
        </p:txBody>
      </p:sp>
      <p:sp>
        <p:nvSpPr>
          <p:cNvPr id="43" name="Text 33"/>
          <p:cNvSpPr txBox="1"/>
          <p:nvPr/>
        </p:nvSpPr>
        <p:spPr>
          <a:xfrm>
            <a:off x="7381951" y="4990795"/>
            <a:ext cx="96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%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181905" y="4419295"/>
            <a:ext cx="457200" cy="4572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8" descr="gen-dedup-ac17f8a14a39973f59d59ba473f9bef1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286146" y="4524451"/>
            <a:ext cx="247802" cy="247802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5181905" y="5474513"/>
            <a:ext cx="3353105" cy="9144"/>
          </a:xfrm>
          <a:prstGeom prst="rect">
            <a:avLst/>
          </a:prstGeom>
          <a:solidFill>
            <a:srgbClr val="D8DEE8"/>
          </a:solidFill>
          <a:ln w="12700">
            <a:solidFill>
              <a:srgbClr val="D8DEE8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8050378" y="5618074"/>
            <a:ext cx="486461" cy="191110"/>
          </a:xfrm>
          <a:prstGeom prst="rect">
            <a:avLst/>
          </a:prstGeom>
          <a:solidFill>
            <a:srgbClr val="ECFD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▲ — %</a:t>
            </a:r>
            <a:endParaRPr lang="en-US" sz="900" dirty="0"/>
          </a:p>
        </p:txBody>
      </p:sp>
      <p:sp>
        <p:nvSpPr>
          <p:cNvPr id="48" name="Text 37"/>
          <p:cNvSpPr txBox="1"/>
          <p:nvPr/>
        </p:nvSpPr>
        <p:spPr>
          <a:xfrm>
            <a:off x="6748272" y="5637276"/>
            <a:ext cx="14630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انخفاض في إعادة العمل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3341218" y="4419295"/>
            <a:ext cx="12006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رضى المستفيد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3550615" y="4686300"/>
            <a:ext cx="1355141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— —</a:t>
            </a:r>
            <a:endParaRPr lang="en-US" sz="5400" dirty="0"/>
          </a:p>
        </p:txBody>
      </p:sp>
      <p:sp>
        <p:nvSpPr>
          <p:cNvPr id="51" name="Text 40"/>
          <p:cNvSpPr txBox="1"/>
          <p:nvPr/>
        </p:nvSpPr>
        <p:spPr>
          <a:xfrm>
            <a:off x="3341218" y="4990795"/>
            <a:ext cx="23591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/ ٥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1181405" y="4419295"/>
            <a:ext cx="476402" cy="4764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pic>
        <p:nvPicPr>
          <p:cNvPr id="53" name="Image 9" descr="gen-dedup-40db11c08953a49f616295b690d2c939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295705" y="4533595"/>
            <a:ext cx="247802" cy="247802"/>
          </a:xfrm>
          <a:prstGeom prst="rect">
            <a:avLst/>
          </a:prstGeom>
        </p:spPr>
      </p:pic>
      <p:sp>
        <p:nvSpPr>
          <p:cNvPr id="54" name="Shape 42"/>
          <p:cNvSpPr/>
          <p:nvPr/>
        </p:nvSpPr>
        <p:spPr>
          <a:xfrm>
            <a:off x="1181405" y="5474513"/>
            <a:ext cx="335310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4049878" y="5618074"/>
            <a:ext cx="486461" cy="191110"/>
          </a:xfrm>
          <a:prstGeom prst="rect">
            <a:avLst/>
          </a:prstGeom>
          <a:solidFill>
            <a:srgbClr val="C9A961">
              <a:alpha val="20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▲ — %</a:t>
            </a:r>
            <a:endParaRPr lang="en-US" sz="900" dirty="0"/>
          </a:p>
        </p:txBody>
      </p:sp>
      <p:sp>
        <p:nvSpPr>
          <p:cNvPr id="56" name="Text 44"/>
          <p:cNvSpPr txBox="1"/>
          <p:nvPr/>
        </p:nvSpPr>
        <p:spPr>
          <a:xfrm>
            <a:off x="3294583" y="5637276"/>
            <a:ext cx="9948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استبيان دوري</a:t>
            </a:r>
            <a:endParaRPr lang="en-US" sz="900" dirty="0"/>
          </a:p>
        </p:txBody>
      </p:sp>
      <p:sp>
        <p:nvSpPr>
          <p:cNvPr id="57" name="Text 45"/>
          <p:cNvSpPr txBox="1"/>
          <p:nvPr/>
        </p:nvSpPr>
        <p:spPr>
          <a:xfrm>
            <a:off x="6362395" y="6687007"/>
            <a:ext cx="101352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داخل اللوحة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6362395" y="6877202"/>
            <a:ext cx="101352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ثلاث عدسات تكشف الأداء من كل زاوية</a:t>
            </a:r>
            <a:endParaRPr lang="en-US" sz="2100" dirty="0"/>
          </a:p>
        </p:txBody>
      </p:sp>
      <p:sp>
        <p:nvSpPr>
          <p:cNvPr id="59" name="Shape 47"/>
          <p:cNvSpPr/>
          <p:nvPr/>
        </p:nvSpPr>
        <p:spPr>
          <a:xfrm>
            <a:off x="13207594" y="7391095"/>
            <a:ext cx="3295498" cy="115214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60" name="Shape 48"/>
          <p:cNvSpPr/>
          <p:nvPr/>
        </p:nvSpPr>
        <p:spPr>
          <a:xfrm>
            <a:off x="16464686" y="7391095"/>
            <a:ext cx="38405" cy="1152144"/>
          </a:xfrm>
          <a:prstGeom prst="rect">
            <a:avLst/>
          </a:prstGeom>
          <a:solidFill>
            <a:srgbClr val="006C35"/>
          </a:solidFill>
          <a:ln w="12700">
            <a:solidFill>
              <a:srgbClr val="006C35">
                <a:alpha val="0"/>
              </a:srgbClr>
            </a:solidFill>
            <a:prstDash val="solid"/>
          </a:ln>
        </p:spPr>
      </p:sp>
      <p:pic>
        <p:nvPicPr>
          <p:cNvPr id="61" name="Image 10" descr="gen-dedup-a00dbe92fc5e33a635bf410e780a5e0e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6040405" y="7601407"/>
            <a:ext cx="209398" cy="209398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15167153" y="7601407"/>
            <a:ext cx="92994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نظرة عامة</a:t>
            </a:r>
            <a:endParaRPr lang="en-US" sz="1300" dirty="0"/>
          </a:p>
        </p:txBody>
      </p:sp>
      <p:sp>
        <p:nvSpPr>
          <p:cNvPr id="63" name="Text 50"/>
          <p:cNvSpPr txBox="1"/>
          <p:nvPr/>
        </p:nvSpPr>
        <p:spPr>
          <a:xfrm>
            <a:off x="13417906" y="7905902"/>
            <a:ext cx="2839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إجماليات، اتجاهات، ومؤشرات صحية للوصول السريع لصورة الأداء.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9784994" y="7391095"/>
            <a:ext cx="3295498" cy="115214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65" name="Shape 52"/>
          <p:cNvSpPr/>
          <p:nvPr/>
        </p:nvSpPr>
        <p:spPr>
          <a:xfrm>
            <a:off x="13042087" y="7391095"/>
            <a:ext cx="38405" cy="115214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pic>
        <p:nvPicPr>
          <p:cNvPr id="66" name="Image 11" descr="gen-dedup-615d459a824a24bcef515b819f049dff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2617806" y="7601407"/>
            <a:ext cx="209398" cy="209398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11428171" y="7601407"/>
            <a:ext cx="130393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تحليل تفصيلي</a:t>
            </a:r>
            <a:endParaRPr lang="en-US" sz="1300" dirty="0"/>
          </a:p>
        </p:txBody>
      </p:sp>
      <p:sp>
        <p:nvSpPr>
          <p:cNvPr id="68" name="Text 54"/>
          <p:cNvSpPr txBox="1"/>
          <p:nvPr/>
        </p:nvSpPr>
        <p:spPr>
          <a:xfrm>
            <a:off x="9995306" y="7905902"/>
            <a:ext cx="2839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تفكيك حسب المدقِّق، نوع الطلب، التصنيف، والكود — يكشف الاختناقات.</a:t>
            </a:r>
            <a:endParaRPr lang="en-US" sz="1000" dirty="0"/>
          </a:p>
        </p:txBody>
      </p:sp>
      <p:sp>
        <p:nvSpPr>
          <p:cNvPr id="69" name="Shape 55"/>
          <p:cNvSpPr/>
          <p:nvPr/>
        </p:nvSpPr>
        <p:spPr>
          <a:xfrm>
            <a:off x="6362395" y="7391095"/>
            <a:ext cx="3295498" cy="1152144"/>
          </a:xfrm>
          <a:prstGeom prst="rect">
            <a:avLst/>
          </a:prstGeom>
          <a:solidFill>
            <a:srgbClr val="F7F8FB"/>
          </a:solidFill>
          <a:ln/>
        </p:spPr>
      </p:sp>
      <p:sp>
        <p:nvSpPr>
          <p:cNvPr id="70" name="Shape 56"/>
          <p:cNvSpPr/>
          <p:nvPr/>
        </p:nvSpPr>
        <p:spPr>
          <a:xfrm>
            <a:off x="9619488" y="7391095"/>
            <a:ext cx="38405" cy="115214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pic>
        <p:nvPicPr>
          <p:cNvPr id="71" name="Image 12" descr="gen-dedup-4f374d10ffd86f2f1dc74d144e7f46de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195206" y="7601407"/>
            <a:ext cx="209398" cy="209398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7590434" y="7601407"/>
            <a:ext cx="18022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تقارير قابلة للتصدير</a:t>
            </a:r>
            <a:endParaRPr lang="en-US" sz="1300" dirty="0"/>
          </a:p>
        </p:txBody>
      </p:sp>
      <p:sp>
        <p:nvSpPr>
          <p:cNvPr id="73" name="Text 58"/>
          <p:cNvSpPr txBox="1"/>
          <p:nvPr/>
        </p:nvSpPr>
        <p:spPr>
          <a:xfrm>
            <a:off x="6572707" y="7905902"/>
            <a:ext cx="2839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تقارير دورية وفورية بصيغ قابلة للمشاركة مع الجهات المعنية.</a:t>
            </a:r>
            <a:endParaRPr lang="en-US" sz="1000" dirty="0"/>
          </a:p>
        </p:txBody>
      </p:sp>
      <p:sp>
        <p:nvSpPr>
          <p:cNvPr id="74" name="Text 59"/>
          <p:cNvSpPr txBox="1"/>
          <p:nvPr/>
        </p:nvSpPr>
        <p:spPr>
          <a:xfrm>
            <a:off x="1181405" y="6687007"/>
            <a:ext cx="44961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أربعة فلاتر إدارية</a:t>
            </a:r>
            <a:endParaRPr lang="en-US" sz="900" dirty="0"/>
          </a:p>
        </p:txBody>
      </p:sp>
      <p:sp>
        <p:nvSpPr>
          <p:cNvPr id="75" name="Text 60"/>
          <p:cNvSpPr txBox="1"/>
          <p:nvPr/>
        </p:nvSpPr>
        <p:spPr>
          <a:xfrm>
            <a:off x="1181405" y="6877202"/>
            <a:ext cx="4496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قطاعات تحليل البيانات</a:t>
            </a:r>
            <a:endParaRPr lang="en-US" sz="1600" dirty="0"/>
          </a:p>
        </p:txBody>
      </p:sp>
      <p:sp>
        <p:nvSpPr>
          <p:cNvPr id="76" name="Shape 61"/>
          <p:cNvSpPr/>
          <p:nvPr/>
        </p:nvSpPr>
        <p:spPr>
          <a:xfrm>
            <a:off x="3476549" y="7295998"/>
            <a:ext cx="2200046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7" name="Shape 62"/>
          <p:cNvSpPr/>
          <p:nvPr/>
        </p:nvSpPr>
        <p:spPr>
          <a:xfrm>
            <a:off x="5477256" y="7467905"/>
            <a:ext cx="57607" cy="228600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3"/>
          <p:cNvSpPr txBox="1"/>
          <p:nvPr/>
        </p:nvSpPr>
        <p:spPr>
          <a:xfrm>
            <a:off x="4776826" y="7438644"/>
            <a:ext cx="6099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١</a:t>
            </a:r>
            <a:endParaRPr lang="en-US" sz="800" dirty="0"/>
          </a:p>
        </p:txBody>
      </p:sp>
      <p:sp>
        <p:nvSpPr>
          <p:cNvPr id="79" name="Text 64"/>
          <p:cNvSpPr txBox="1"/>
          <p:nvPr/>
        </p:nvSpPr>
        <p:spPr>
          <a:xfrm>
            <a:off x="4776826" y="7563002"/>
            <a:ext cx="8357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نوع الطلب</a:t>
            </a:r>
            <a:endParaRPr lang="en-US" sz="1000" dirty="0"/>
          </a:p>
        </p:txBody>
      </p:sp>
      <p:sp>
        <p:nvSpPr>
          <p:cNvPr id="80" name="Shape 65"/>
          <p:cNvSpPr/>
          <p:nvPr/>
        </p:nvSpPr>
        <p:spPr>
          <a:xfrm>
            <a:off x="1181405" y="7295998"/>
            <a:ext cx="2200046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3181198" y="7467905"/>
            <a:ext cx="57607" cy="228600"/>
          </a:xfrm>
          <a:prstGeom prst="rect">
            <a:avLst/>
          </a:prstGeom>
          <a:solidFill>
            <a:srgbClr val="0E80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2572207" y="7438644"/>
            <a:ext cx="5148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٢</a:t>
            </a:r>
            <a:endParaRPr lang="en-US" sz="800" dirty="0"/>
          </a:p>
        </p:txBody>
      </p:sp>
      <p:sp>
        <p:nvSpPr>
          <p:cNvPr id="83" name="Text 68"/>
          <p:cNvSpPr txBox="1"/>
          <p:nvPr/>
        </p:nvSpPr>
        <p:spPr>
          <a:xfrm>
            <a:off x="2572207" y="7563002"/>
            <a:ext cx="65653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التصنيف</a:t>
            </a:r>
            <a:endParaRPr lang="en-US" sz="1000" dirty="0"/>
          </a:p>
        </p:txBody>
      </p:sp>
      <p:sp>
        <p:nvSpPr>
          <p:cNvPr id="84" name="Shape 69"/>
          <p:cNvSpPr/>
          <p:nvPr/>
        </p:nvSpPr>
        <p:spPr>
          <a:xfrm>
            <a:off x="3476549" y="7962595"/>
            <a:ext cx="2200046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5" name="Shape 70"/>
          <p:cNvSpPr/>
          <p:nvPr/>
        </p:nvSpPr>
        <p:spPr>
          <a:xfrm>
            <a:off x="5477256" y="8134502"/>
            <a:ext cx="57607" cy="228600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Text 71"/>
          <p:cNvSpPr txBox="1"/>
          <p:nvPr/>
        </p:nvSpPr>
        <p:spPr>
          <a:xfrm>
            <a:off x="4860036" y="8106156"/>
            <a:ext cx="5239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٣</a:t>
            </a:r>
            <a:endParaRPr lang="en-US" sz="800" dirty="0"/>
          </a:p>
        </p:txBody>
      </p:sp>
      <p:sp>
        <p:nvSpPr>
          <p:cNvPr id="87" name="Text 72"/>
          <p:cNvSpPr txBox="1"/>
          <p:nvPr/>
        </p:nvSpPr>
        <p:spPr>
          <a:xfrm>
            <a:off x="4860036" y="8229600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نوع الكود</a:t>
            </a:r>
            <a:endParaRPr lang="en-US" sz="1000" dirty="0"/>
          </a:p>
        </p:txBody>
      </p:sp>
      <p:sp>
        <p:nvSpPr>
          <p:cNvPr id="88" name="Shape 73"/>
          <p:cNvSpPr/>
          <p:nvPr/>
        </p:nvSpPr>
        <p:spPr>
          <a:xfrm>
            <a:off x="1181405" y="7962595"/>
            <a:ext cx="2200046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9" name="Shape 74"/>
          <p:cNvSpPr/>
          <p:nvPr/>
        </p:nvSpPr>
        <p:spPr>
          <a:xfrm>
            <a:off x="3181198" y="8134502"/>
            <a:ext cx="57607" cy="2286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Text 75"/>
          <p:cNvSpPr txBox="1"/>
          <p:nvPr/>
        </p:nvSpPr>
        <p:spPr>
          <a:xfrm>
            <a:off x="2330806" y="8106156"/>
            <a:ext cx="762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7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٤</a:t>
            </a:r>
            <a:endParaRPr lang="en-US" sz="800" dirty="0"/>
          </a:p>
        </p:txBody>
      </p:sp>
      <p:sp>
        <p:nvSpPr>
          <p:cNvPr id="91" name="Text 76"/>
          <p:cNvSpPr txBox="1"/>
          <p:nvPr/>
        </p:nvSpPr>
        <p:spPr>
          <a:xfrm>
            <a:off x="2330806" y="8229600"/>
            <a:ext cx="10241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نوع المشروع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5002" y="8953805"/>
            <a:ext cx="16059607" cy="761695"/>
          </a:xfrm>
          <a:prstGeom prst="rect">
            <a:avLst/>
          </a:prstGeom>
          <a:solidFill>
            <a:srgbClr val="FAF8F2"/>
          </a:solidFill>
          <a:ln/>
        </p:spPr>
      </p:sp>
      <p:sp>
        <p:nvSpPr>
          <p:cNvPr id="6" name="Shape 3"/>
          <p:cNvSpPr/>
          <p:nvPr/>
        </p:nvSpPr>
        <p:spPr>
          <a:xfrm>
            <a:off x="16707002" y="8953805"/>
            <a:ext cx="57607" cy="761695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>
                <a:alpha val="0"/>
              </a:srgbClr>
            </a:solidFill>
            <a:prstDash val="solid"/>
          </a:ln>
        </p:spPr>
      </p:sp>
      <p:pic>
        <p:nvPicPr>
          <p:cNvPr id="7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pic>
        <p:nvPicPr>
          <p:cNvPr id="8" name="Image 2" descr="gen-dedup-9d35459d33da79f5caaf3e739e2f6063.png">    </p:cNvPr>
          <p:cNvPicPr>
            <a:picLocks noChangeAspect="1"/>
          </p:cNvPicPr>
          <p:nvPr/>
        </p:nvPicPr>
        <p:blipFill>
          <a:blip r:embed="rId3"/>
          <a:srcRect l="0" r="0" t="-399" b="-399"/>
          <a:stretch/>
        </p:blipFill>
        <p:spPr>
          <a:xfrm>
            <a:off x="1143000" y="5715000"/>
            <a:ext cx="15240305" cy="19202"/>
          </a:xfrm>
          <a:prstGeom prst="rect">
            <a:avLst/>
          </a:prstGeom>
        </p:spPr>
      </p:pic>
      <p:pic>
        <p:nvPicPr>
          <p:cNvPr id="9" name="Image 3" descr="gen-dedup-1cbe01caf53ae3da225c023ff1f746f3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7526305" y="4223614"/>
            <a:ext cx="76261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ROADMAP · 05</a:t>
            </a:r>
            <a:endParaRPr lang="en-US" sz="1200" dirty="0"/>
          </a:p>
        </p:txBody>
      </p:sp>
      <p:pic>
        <p:nvPicPr>
          <p:cNvPr id="11" name="Image 4" descr="gen-dedup-234702c931b0eb0b7ee5efffe867f37e.png">    </p:cNvPr>
          <p:cNvPicPr>
            <a:picLocks noChangeAspect="1"/>
          </p:cNvPicPr>
          <p:nvPr/>
        </p:nvPicPr>
        <p:blipFill>
          <a:blip r:embed="rId5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pic>
        <p:nvPicPr>
          <p:cNvPr id="12" name="Image 5" descr="gen-dedup-79590d7e231cd53a5a17c93c629cb0a7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5259507" y="5581498"/>
            <a:ext cx="362102" cy="362102"/>
          </a:xfrm>
          <a:prstGeom prst="rect">
            <a:avLst/>
          </a:prstGeom>
        </p:spPr>
      </p:pic>
      <p:pic>
        <p:nvPicPr>
          <p:cNvPr id="13" name="Image 6" descr="gen-dedup-b5d662390ed72261c36e41800848e91c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449202" y="5581498"/>
            <a:ext cx="362102" cy="362102"/>
          </a:xfrm>
          <a:prstGeom prst="rect">
            <a:avLst/>
          </a:prstGeom>
        </p:spPr>
      </p:pic>
      <p:pic>
        <p:nvPicPr>
          <p:cNvPr id="14" name="Image 7" descr="gen-dedup-8692cf99ad14a54d070e4e825e9cd8b2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638898" y="5581498"/>
            <a:ext cx="362102" cy="362102"/>
          </a:xfrm>
          <a:prstGeom prst="rect">
            <a:avLst/>
          </a:prstGeom>
        </p:spPr>
      </p:pic>
      <p:pic>
        <p:nvPicPr>
          <p:cNvPr id="15" name="Image 8" descr="gen-dedup-2b51fd912927e2d245dd90c6e8112757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829507" y="5581498"/>
            <a:ext cx="362102" cy="362102"/>
          </a:xfrm>
          <a:prstGeom prst="rect">
            <a:avLst/>
          </a:prstGeom>
        </p:spPr>
      </p:pic>
      <p:sp>
        <p:nvSpPr>
          <p:cNvPr id="16" name="Shape 5"/>
          <p:cNvSpPr/>
          <p:nvPr/>
        </p:nvSpPr>
        <p:spPr>
          <a:xfrm>
            <a:off x="16306495" y="457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C35"/>
            </a:solidFill>
            <a:prstDash val="solid"/>
          </a:ln>
        </p:spPr>
      </p:sp>
      <p:pic>
        <p:nvPicPr>
          <p:cNvPr id="17" name="Image 9" descr="gen-dedup-f2e56aa6188aed7e3cf480ac0f83db5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6402507" y="552298"/>
            <a:ext cx="267005" cy="267005"/>
          </a:xfrm>
          <a:prstGeom prst="rect">
            <a:avLst/>
          </a:prstGeom>
        </p:spPr>
      </p:pic>
      <p:sp>
        <p:nvSpPr>
          <p:cNvPr id="18" name="Text 6"/>
          <p:cNvSpPr txBox="1"/>
          <p:nvPr/>
        </p:nvSpPr>
        <p:spPr>
          <a:xfrm>
            <a:off x="13484657" y="540410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19" name="Text 7"/>
          <p:cNvSpPr txBox="1"/>
          <p:nvPr/>
        </p:nvSpPr>
        <p:spPr>
          <a:xfrm>
            <a:off x="13484657" y="707746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20" name="Text 8"/>
          <p:cNvSpPr txBox="1"/>
          <p:nvPr/>
        </p:nvSpPr>
        <p:spPr>
          <a:xfrm>
            <a:off x="4381805" y="1524305"/>
            <a:ext cx="1238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٠٥ — رؤية مستقبلية</a:t>
            </a:r>
            <a:endParaRPr lang="en-US" sz="1000" dirty="0"/>
          </a:p>
        </p:txBody>
      </p:sp>
      <p:sp>
        <p:nvSpPr>
          <p:cNvPr id="21" name="Text 9"/>
          <p:cNvSpPr txBox="1"/>
          <p:nvPr/>
        </p:nvSpPr>
        <p:spPr>
          <a:xfrm>
            <a:off x="4381805" y="1819656"/>
            <a:ext cx="12382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خارطة طريق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التطوير</a:t>
            </a:r>
            <a:endParaRPr lang="en-US" sz="4200" dirty="0"/>
          </a:p>
        </p:txBody>
      </p:sp>
      <p:sp>
        <p:nvSpPr>
          <p:cNvPr id="22" name="Text 10"/>
          <p:cNvSpPr txBox="1"/>
          <p:nvPr/>
        </p:nvSpPr>
        <p:spPr>
          <a:xfrm>
            <a:off x="4953305" y="2539289"/>
            <a:ext cx="1181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تطوير تدريجي عبر أربع مراحل — من نسخة تعمل اليوم، إلى تكامل ذكي مع منظومة الأمانة.</a:t>
            </a:r>
            <a:endParaRPr lang="en-US" sz="1600" dirty="0"/>
          </a:p>
        </p:txBody>
      </p:sp>
      <p:sp>
        <p:nvSpPr>
          <p:cNvPr id="23" name="Text 11"/>
          <p:cNvSpPr txBox="1"/>
          <p:nvPr/>
        </p:nvSpPr>
        <p:spPr>
          <a:xfrm>
            <a:off x="12954305" y="48673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المرحلة ٠١</a:t>
            </a:r>
            <a:endParaRPr lang="en-US" sz="1000" dirty="0"/>
          </a:p>
        </p:txBody>
      </p:sp>
      <p:sp>
        <p:nvSpPr>
          <p:cNvPr id="24" name="Text 12"/>
          <p:cNvSpPr txBox="1"/>
          <p:nvPr/>
        </p:nvSpPr>
        <p:spPr>
          <a:xfrm>
            <a:off x="12954305" y="5086807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النسخة الحالية</a:t>
            </a:r>
            <a:endParaRPr lang="en-US" sz="1800" dirty="0"/>
          </a:p>
        </p:txBody>
      </p:sp>
      <p:sp>
        <p:nvSpPr>
          <p:cNvPr id="25" name="Shape 13"/>
          <p:cNvSpPr/>
          <p:nvPr/>
        </p:nvSpPr>
        <p:spPr>
          <a:xfrm>
            <a:off x="14153998" y="4381805"/>
            <a:ext cx="838505" cy="314554"/>
          </a:xfrm>
          <a:prstGeom prst="rect">
            <a:avLst/>
          </a:prstGeom>
          <a:solidFill>
            <a:srgbClr val="ECFDF3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26" name="Text 14"/>
          <p:cNvSpPr txBox="1"/>
          <p:nvPr/>
        </p:nvSpPr>
        <p:spPr>
          <a:xfrm>
            <a:off x="14117422" y="4476902"/>
            <a:ext cx="9116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منجَز · v17</a:t>
            </a:r>
            <a:endParaRPr lang="en-US" sz="900" dirty="0"/>
          </a:p>
        </p:txBody>
      </p:sp>
      <p:sp>
        <p:nvSpPr>
          <p:cNvPr id="27" name="Text 15"/>
          <p:cNvSpPr txBox="1"/>
          <p:nvPr/>
        </p:nvSpPr>
        <p:spPr>
          <a:xfrm>
            <a:off x="12954305" y="6286500"/>
            <a:ext cx="3238805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أربع وحدات تعمل محليًّا داخل المتصفح، نسخ احتياطية يدوية، وفلاتر ديناميكية ربطت الاشتراطات بأنواع المشاريع. </a:t>
            </a:r>
            <a:endParaRPr lang="en-US" sz="1100" dirty="0"/>
          </a:p>
        </p:txBody>
      </p:sp>
      <p:sp>
        <p:nvSpPr>
          <p:cNvPr id="28" name="Text 16"/>
          <p:cNvSpPr txBox="1"/>
          <p:nvPr/>
        </p:nvSpPr>
        <p:spPr>
          <a:xfrm>
            <a:off x="9144000" y="48673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المرحلة ٠٢</a:t>
            </a:r>
            <a:endParaRPr lang="en-US" sz="1000" dirty="0"/>
          </a:p>
        </p:txBody>
      </p:sp>
      <p:sp>
        <p:nvSpPr>
          <p:cNvPr id="29" name="Text 17"/>
          <p:cNvSpPr txBox="1"/>
          <p:nvPr/>
        </p:nvSpPr>
        <p:spPr>
          <a:xfrm>
            <a:off x="9144000" y="5086807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قاعدة بيانات مركزية</a:t>
            </a:r>
            <a:endParaRPr lang="en-US" sz="1800" dirty="0"/>
          </a:p>
        </p:txBody>
      </p:sp>
      <p:sp>
        <p:nvSpPr>
          <p:cNvPr id="30" name="Shape 18"/>
          <p:cNvSpPr/>
          <p:nvPr/>
        </p:nvSpPr>
        <p:spPr>
          <a:xfrm>
            <a:off x="10295230" y="4381805"/>
            <a:ext cx="942746" cy="314554"/>
          </a:xfrm>
          <a:prstGeom prst="rect">
            <a:avLst/>
          </a:prstGeom>
          <a:solidFill>
            <a:srgbClr val="EFF8FF"/>
          </a:solidFill>
          <a:ln w="12700">
            <a:solidFill>
              <a:srgbClr val="175CD3"/>
            </a:solidFill>
            <a:prstDash val="solid"/>
          </a:ln>
        </p:spPr>
      </p:sp>
      <p:sp>
        <p:nvSpPr>
          <p:cNvPr id="31" name="Text 19"/>
          <p:cNvSpPr txBox="1"/>
          <p:nvPr/>
        </p:nvSpPr>
        <p:spPr>
          <a:xfrm>
            <a:off x="10232136" y="4476902"/>
            <a:ext cx="10689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قيد التخطيط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9144000" y="6286500"/>
            <a:ext cx="3238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ترحيل البيانات إلى خادم آمن داخل البنية التحتية للأمانة، صلاحيات مُحكَمة لكل دور، ونسخ احتياطية مجدولة. </a:t>
            </a:r>
            <a:endParaRPr lang="en-US" sz="1100" dirty="0"/>
          </a:p>
        </p:txBody>
      </p:sp>
      <p:sp>
        <p:nvSpPr>
          <p:cNvPr id="33" name="Text 21"/>
          <p:cNvSpPr txBox="1"/>
          <p:nvPr/>
        </p:nvSpPr>
        <p:spPr>
          <a:xfrm>
            <a:off x="5333695" y="48673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المرحلة ٠٣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33695" y="5086807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التكامل البَلَدي</a:t>
            </a:r>
            <a:endParaRPr lang="en-US" sz="1800" dirty="0"/>
          </a:p>
        </p:txBody>
      </p:sp>
      <p:sp>
        <p:nvSpPr>
          <p:cNvPr id="35" name="Shape 23"/>
          <p:cNvSpPr/>
          <p:nvPr/>
        </p:nvSpPr>
        <p:spPr>
          <a:xfrm>
            <a:off x="6661404" y="4381805"/>
            <a:ext cx="590702" cy="314554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24"/>
          <p:cNvSpPr txBox="1"/>
          <p:nvPr/>
        </p:nvSpPr>
        <p:spPr>
          <a:xfrm>
            <a:off x="6705295" y="4476902"/>
            <a:ext cx="5029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مقترَح</a:t>
            </a:r>
            <a:endParaRPr lang="en-US" sz="900" dirty="0"/>
          </a:p>
        </p:txBody>
      </p:sp>
      <p:sp>
        <p:nvSpPr>
          <p:cNvPr id="37" name="Text 25"/>
          <p:cNvSpPr txBox="1"/>
          <p:nvPr/>
        </p:nvSpPr>
        <p:spPr>
          <a:xfrm>
            <a:off x="5333695" y="6286500"/>
            <a:ext cx="3238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ربط النظام بمنصات إصدار الرخص الرسمية، وقراءة بيانات الطلب آليًّا لتوفير الإدخال اليدوي وضمان الاتساق. </a:t>
            </a:r>
            <a:endParaRPr lang="en-US" sz="1100" dirty="0"/>
          </a:p>
        </p:txBody>
      </p:sp>
      <p:sp>
        <p:nvSpPr>
          <p:cNvPr id="38" name="Text 26"/>
          <p:cNvSpPr txBox="1"/>
          <p:nvPr/>
        </p:nvSpPr>
        <p:spPr>
          <a:xfrm>
            <a:off x="1524305" y="48673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المرحلة ٠٤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1524305" y="5086807"/>
            <a:ext cx="3238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المساعد الذكي</a:t>
            </a:r>
            <a:endParaRPr lang="en-US" sz="1800" dirty="0"/>
          </a:p>
        </p:txBody>
      </p:sp>
      <p:sp>
        <p:nvSpPr>
          <p:cNvPr id="40" name="Shape 28"/>
          <p:cNvSpPr/>
          <p:nvPr/>
        </p:nvSpPr>
        <p:spPr>
          <a:xfrm>
            <a:off x="2737714" y="4381805"/>
            <a:ext cx="819302" cy="314554"/>
          </a:xfrm>
          <a:prstGeom prst="rect">
            <a:avLst/>
          </a:prstGeom>
          <a:solidFill>
            <a:srgbClr val="0B2545">
              <a:alpha val="6000"/>
            </a:srgbClr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1" name="Text 29"/>
          <p:cNvSpPr txBox="1"/>
          <p:nvPr/>
        </p:nvSpPr>
        <p:spPr>
          <a:xfrm>
            <a:off x="2707538" y="4476902"/>
            <a:ext cx="880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رؤية بعيدة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524305" y="6286500"/>
            <a:ext cx="32388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 اقتراحات ذكية للمدقِّق على المخطط، اكتشاف الأنماط، وتنبيه المشرف بالحالات الشاذة قبل صدورها. 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10498226" y="9134856"/>
            <a:ext cx="5906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مبدأ التطوير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0498226" y="9286646"/>
            <a:ext cx="6591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قيمة فورية أولًا، ثم تكامل، ثم ذكاء — لا انتظار لإصدار "كامل" بعيد.</a:t>
            </a:r>
            <a:endParaRPr lang="en-US" sz="1600" dirty="0"/>
          </a:p>
        </p:txBody>
      </p:sp>
      <p:sp>
        <p:nvSpPr>
          <p:cNvPr id="45" name="Text 33"/>
          <p:cNvSpPr txBox="1"/>
          <p:nvPr/>
        </p:nvSpPr>
        <p:spPr>
          <a:xfrm>
            <a:off x="552298" y="9253728"/>
            <a:ext cx="39483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INCREMENTAL · MEASURABLE · LOW-RISK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0c4a513bf99fb9f9448f1453bd3f135c.png">    </p:cNvPr>
          <p:cNvPicPr>
            <a:picLocks noChangeAspect="1"/>
          </p:cNvPicPr>
          <p:nvPr/>
        </p:nvPicPr>
        <p:blipFill>
          <a:blip r:embed="rId1"/>
          <a:srcRect l="-201" r="-201" t="0" b="0"/>
          <a:stretch/>
        </p:blipFill>
        <p:spPr>
          <a:xfrm>
            <a:off x="0" y="0"/>
            <a:ext cx="18288000" cy="758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505895" y="4190695"/>
            <a:ext cx="5257800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77102" y="4190695"/>
            <a:ext cx="5257800" cy="401970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2805" y="4190695"/>
            <a:ext cx="4953305" cy="40005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1695" y="8953805"/>
            <a:ext cx="16002000" cy="761695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ce31f2e7a787389ac12ea4f43388e927.png">    </p:cNvPr>
          <p:cNvPicPr>
            <a:picLocks noChangeAspect="1"/>
          </p:cNvPicPr>
          <p:nvPr/>
        </p:nvPicPr>
        <p:blipFill>
          <a:blip r:embed="rId2"/>
          <a:srcRect l="0" r="0" t="-20" b="-20"/>
          <a:stretch/>
        </p:blipFill>
        <p:spPr>
          <a:xfrm>
            <a:off x="17526305" y="0"/>
            <a:ext cx="761695" cy="1028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525098" y="4190695"/>
            <a:ext cx="5238598" cy="1143000"/>
          </a:xfrm>
          <a:prstGeom prst="rect">
            <a:avLst/>
          </a:prstGeom>
          <a:solidFill>
            <a:srgbClr val="F7F8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96305" y="4190695"/>
            <a:ext cx="5238598" cy="1143000"/>
          </a:xfrm>
          <a:prstGeom prst="rect">
            <a:avLst/>
          </a:prstGeom>
          <a:solidFill>
            <a:srgbClr val="FAF8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52805" y="4190695"/>
            <a:ext cx="4953305" cy="114300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gen-dedup-1cbe01caf53ae3da225c023ff1f746f3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17487900" y="0"/>
            <a:ext cx="38405" cy="102870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526305" y="4253789"/>
            <a:ext cx="762610" cy="1781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0C89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ROLLOUT · 06</a:t>
            </a:r>
            <a:endParaRPr lang="en-US" sz="1200" dirty="0"/>
          </a:p>
        </p:txBody>
      </p:sp>
      <p:pic>
        <p:nvPicPr>
          <p:cNvPr id="15" name="Image 3" descr="gen-dedup-234702c931b0eb0b7ee5efffe867f37e.png">    </p:cNvPr>
          <p:cNvPicPr>
            <a:picLocks noChangeAspect="1"/>
          </p:cNvPicPr>
          <p:nvPr/>
        </p:nvPicPr>
        <p:blipFill>
          <a:blip r:embed="rId4"/>
          <a:srcRect l="-392" r="-392" t="0" b="0"/>
          <a:stretch/>
        </p:blipFill>
        <p:spPr>
          <a:xfrm>
            <a:off x="15430500" y="3696005"/>
            <a:ext cx="1333195" cy="2834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6306495" y="4572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C35"/>
            </a:solidFill>
            <a:prstDash val="solid"/>
          </a:ln>
        </p:spPr>
      </p:sp>
      <p:pic>
        <p:nvPicPr>
          <p:cNvPr id="17" name="Image 4" descr="gen-dedup-f2e56aa6188aed7e3cf480ac0f83db5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402507" y="552298"/>
            <a:ext cx="267005" cy="26700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484657" y="540410"/>
            <a:ext cx="32086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أمانة منطقة الرياض · قطاع غرب الرياض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3484657" y="707746"/>
            <a:ext cx="26956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إدارة رخص البناء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4381805" y="1524305"/>
            <a:ext cx="1238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0" kern="0" dirty="0">
                <a:solidFill>
                  <a:srgbClr val="006C3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٠٦ — خطة التمكين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4381805" y="1819656"/>
            <a:ext cx="12382805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النشر 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00000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والتدريب</a:t>
            </a:r>
            <a:pPr algn="l" indent="0" marL="0">
              <a:buNone/>
            </a:pPr>
            <a:r>
              <a:rPr lang="en-US" sz="4200" b="1" spc="-37" kern="0" dirty="0">
                <a:solidFill>
                  <a:srgbClr val="0B254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 والدعم</a:t>
            </a:r>
            <a:endParaRPr lang="en-US" sz="4200" dirty="0"/>
          </a:p>
        </p:txBody>
      </p:sp>
      <p:sp>
        <p:nvSpPr>
          <p:cNvPr id="22" name="Text 15"/>
          <p:cNvSpPr txBox="1"/>
          <p:nvPr/>
        </p:nvSpPr>
        <p:spPr>
          <a:xfrm>
            <a:off x="4953305" y="2539289"/>
            <a:ext cx="118113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D4F6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تمكين متدرِّجة تضمن انتقالًا سلسًا للفِرق، وتُحوِّل النظام إلى ممارسة يومية لا مجرد أداة.</a:t>
            </a:r>
            <a:endParaRPr lang="en-US" sz="1600" dirty="0"/>
          </a:p>
        </p:txBody>
      </p:sp>
      <p:pic>
        <p:nvPicPr>
          <p:cNvPr id="23" name="Image 5" descr="gen-dedup-b43279ae934f932b914ad0b308dd0c76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245766" y="2000707"/>
            <a:ext cx="152705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33602" y="1904695"/>
            <a:ext cx="12198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 للاعتماد والإطلاق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761695" y="1904695"/>
            <a:ext cx="1809598" cy="342900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15887700" y="4419295"/>
            <a:ext cx="609905" cy="609905"/>
          </a:xfrm>
          <a:prstGeom prst="rect">
            <a:avLst/>
          </a:prstGeom>
          <a:solidFill>
            <a:srgbClr val="006C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6" descr="gen-dedup-d5d45e652282bc6604910011f88d715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6030346" y="4562856"/>
            <a:ext cx="323698" cy="32369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1792102" y="4643323"/>
            <a:ext cx="8330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المحور ٠١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11792102" y="5162702"/>
            <a:ext cx="4705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النشر</a:t>
            </a:r>
            <a:endParaRPr lang="en-US" sz="2200" dirty="0"/>
          </a:p>
        </p:txBody>
      </p:sp>
      <p:sp>
        <p:nvSpPr>
          <p:cNvPr id="30" name="Text 21"/>
          <p:cNvSpPr txBox="1"/>
          <p:nvPr/>
        </p:nvSpPr>
        <p:spPr>
          <a:xfrm>
            <a:off x="11792102" y="5529377"/>
            <a:ext cx="4705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16269005" y="5734202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16365931" y="5781751"/>
            <a:ext cx="63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١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2484303" y="5715000"/>
            <a:ext cx="432145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إطلاق تجريبي على فريق محدود من المدققين لمدة أسبوعين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16269005" y="6115507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16357702" y="6163056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٢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12605004" y="6096305"/>
            <a:ext cx="417880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جمع ملاحظات الاستخدام وتعديل الاشتراطات والمرفقات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16269005" y="6495898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16345814" y="6543446"/>
            <a:ext cx="768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٣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13044830" y="6476695"/>
            <a:ext cx="36749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تعميم رسمي على جميع مدقِّقي قطاع غرب الرياض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16269005" y="6877202"/>
            <a:ext cx="228600" cy="228600"/>
          </a:xfrm>
          <a:prstGeom prst="rect">
            <a:avLst/>
          </a:prstGeom>
          <a:solidFill>
            <a:srgbClr val="ECFD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16355873" y="6924751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13543178" y="6858000"/>
            <a:ext cx="309524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إصدار سياسة استخدام معتمَدة من الإدارة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10458907" y="4419295"/>
            <a:ext cx="609905" cy="6099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7" descr="gen-dedup-3de328e57294b7fd4b4cff6b1636695c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601554" y="4562856"/>
            <a:ext cx="323698" cy="32369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362395" y="4643323"/>
            <a:ext cx="86502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المحور ٠٢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6362395" y="5162702"/>
            <a:ext cx="47055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التدريب</a:t>
            </a:r>
            <a:endParaRPr lang="en-US" sz="2200" dirty="0"/>
          </a:p>
        </p:txBody>
      </p:sp>
      <p:sp>
        <p:nvSpPr>
          <p:cNvPr id="47" name="Text 37"/>
          <p:cNvSpPr txBox="1"/>
          <p:nvPr/>
        </p:nvSpPr>
        <p:spPr>
          <a:xfrm>
            <a:off x="6362395" y="5529377"/>
            <a:ext cx="4705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TRAINING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10820095" y="5734202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10927080" y="5790895"/>
            <a:ext cx="63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١</a:t>
            </a:r>
            <a:endParaRPr lang="en-US" sz="900" dirty="0"/>
          </a:p>
        </p:txBody>
      </p:sp>
      <p:sp>
        <p:nvSpPr>
          <p:cNvPr id="50" name="Text 40"/>
          <p:cNvSpPr txBox="1"/>
          <p:nvPr/>
        </p:nvSpPr>
        <p:spPr>
          <a:xfrm>
            <a:off x="7619695" y="5715000"/>
            <a:ext cx="36530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ورشة عمل تأسيسية للمدقِّقين (ساعتان عمليّتان)</a:t>
            </a:r>
            <a:endParaRPr lang="en-US" sz="1200" dirty="0"/>
          </a:p>
        </p:txBody>
      </p:sp>
      <p:sp>
        <p:nvSpPr>
          <p:cNvPr id="51" name="Shape 41"/>
          <p:cNvSpPr/>
          <p:nvPr/>
        </p:nvSpPr>
        <p:spPr>
          <a:xfrm>
            <a:off x="10820095" y="6133795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10919765" y="6191402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٢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7690104" y="6115507"/>
            <a:ext cx="356524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جلسة موجَّهة للمشرفين على المراجعة والمتابعة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10820095" y="6534302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10906963" y="6590995"/>
            <a:ext cx="768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٣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8296351" y="6515100"/>
            <a:ext cx="28456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جلسة قراءة لوحة KPIs مخصَّصة للإدارة</a:t>
            </a:r>
            <a:endParaRPr lang="en-US" sz="1200" dirty="0"/>
          </a:p>
        </p:txBody>
      </p:sp>
      <p:sp>
        <p:nvSpPr>
          <p:cNvPr id="57" name="Shape 47"/>
          <p:cNvSpPr/>
          <p:nvPr/>
        </p:nvSpPr>
        <p:spPr>
          <a:xfrm>
            <a:off x="10820095" y="6933895"/>
            <a:ext cx="247802" cy="247802"/>
          </a:xfrm>
          <a:prstGeom prst="rect">
            <a:avLst/>
          </a:prstGeom>
          <a:solidFill>
            <a:srgbClr val="FAF8F2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10917022" y="6991502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7193585" y="6915607"/>
            <a:ext cx="41349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دليل مستخدم مصوَّر، ومقاطع تدريب قصيرة قابلة للرجوع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5029200" y="4419295"/>
            <a:ext cx="609905" cy="609905"/>
          </a:xfrm>
          <a:prstGeom prst="rect">
            <a:avLst/>
          </a:prstGeom>
          <a:solidFill>
            <a:srgbClr val="C9A96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8" descr="gen-dedup-78c09f5a3100d971dc33969501812b0c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171846" y="4562856"/>
            <a:ext cx="323698" cy="323698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1218895" y="4643323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25" kern="0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المحور ٠٣</a:t>
            </a:r>
            <a:endParaRPr lang="en-US" sz="1000" dirty="0"/>
          </a:p>
        </p:txBody>
      </p:sp>
      <p:sp>
        <p:nvSpPr>
          <p:cNvPr id="63" name="Text 52"/>
          <p:cNvSpPr txBox="1"/>
          <p:nvPr/>
        </p:nvSpPr>
        <p:spPr>
          <a:xfrm>
            <a:off x="1218895" y="5162702"/>
            <a:ext cx="44202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الدعم المستمر</a:t>
            </a:r>
            <a:endParaRPr lang="en-US" sz="2200" dirty="0"/>
          </a:p>
        </p:txBody>
      </p:sp>
      <p:sp>
        <p:nvSpPr>
          <p:cNvPr id="64" name="Text 53"/>
          <p:cNvSpPr txBox="1"/>
          <p:nvPr/>
        </p:nvSpPr>
        <p:spPr>
          <a:xfrm>
            <a:off x="1218895" y="5529377"/>
            <a:ext cx="4420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SUPPORT</a:t>
            </a:r>
            <a:endParaRPr lang="en-US" sz="1000" dirty="0"/>
          </a:p>
        </p:txBody>
      </p:sp>
      <p:sp>
        <p:nvSpPr>
          <p:cNvPr id="65" name="Shape 54"/>
          <p:cNvSpPr/>
          <p:nvPr/>
        </p:nvSpPr>
        <p:spPr>
          <a:xfrm>
            <a:off x="5391302" y="5734202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6" name="Text 55"/>
          <p:cNvSpPr txBox="1"/>
          <p:nvPr/>
        </p:nvSpPr>
        <p:spPr>
          <a:xfrm>
            <a:off x="5497373" y="5790895"/>
            <a:ext cx="630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١</a:t>
            </a:r>
            <a:endParaRPr lang="en-US" sz="900" dirty="0"/>
          </a:p>
        </p:txBody>
      </p:sp>
      <p:sp>
        <p:nvSpPr>
          <p:cNvPr id="67" name="Text 56"/>
          <p:cNvSpPr txBox="1"/>
          <p:nvPr/>
        </p:nvSpPr>
        <p:spPr>
          <a:xfrm>
            <a:off x="2417674" y="5715000"/>
            <a:ext cx="338968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قناة دعم داخلية مخصَّصة لاستفسارات النظام</a:t>
            </a:r>
            <a:endParaRPr lang="en-US" sz="1200" dirty="0"/>
          </a:p>
        </p:txBody>
      </p:sp>
      <p:sp>
        <p:nvSpPr>
          <p:cNvPr id="68" name="Shape 57"/>
          <p:cNvSpPr/>
          <p:nvPr/>
        </p:nvSpPr>
        <p:spPr>
          <a:xfrm>
            <a:off x="5391302" y="6133795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5490058" y="6191402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٢</a:t>
            </a:r>
            <a:endParaRPr lang="en-US" sz="900" dirty="0"/>
          </a:p>
        </p:txBody>
      </p:sp>
      <p:sp>
        <p:nvSpPr>
          <p:cNvPr id="70" name="Text 59"/>
          <p:cNvSpPr txBox="1"/>
          <p:nvPr/>
        </p:nvSpPr>
        <p:spPr>
          <a:xfrm>
            <a:off x="2214677" y="6115507"/>
            <a:ext cx="3620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مراجعة دورية للاشتراطات بحسب تحديث الأنظمة</a:t>
            </a:r>
            <a:endParaRPr lang="en-US" sz="1200" dirty="0"/>
          </a:p>
        </p:txBody>
      </p:sp>
      <p:sp>
        <p:nvSpPr>
          <p:cNvPr id="71" name="Shape 60"/>
          <p:cNvSpPr/>
          <p:nvPr/>
        </p:nvSpPr>
        <p:spPr>
          <a:xfrm>
            <a:off x="5391302" y="6534302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2" name="Text 61"/>
          <p:cNvSpPr txBox="1"/>
          <p:nvPr/>
        </p:nvSpPr>
        <p:spPr>
          <a:xfrm>
            <a:off x="5477256" y="6590995"/>
            <a:ext cx="768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٣</a:t>
            </a:r>
            <a:endParaRPr lang="en-US" sz="900" dirty="0"/>
          </a:p>
        </p:txBody>
      </p:sp>
      <p:sp>
        <p:nvSpPr>
          <p:cNvPr id="73" name="Text 62"/>
          <p:cNvSpPr txBox="1"/>
          <p:nvPr/>
        </p:nvSpPr>
        <p:spPr>
          <a:xfrm>
            <a:off x="2519172" y="6515100"/>
            <a:ext cx="326532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نُسخ احتياطية مجدولة وخطة استرجاع موثَّقة</a:t>
            </a:r>
            <a:endParaRPr lang="en-US" sz="1200" dirty="0"/>
          </a:p>
        </p:txBody>
      </p:sp>
      <p:sp>
        <p:nvSpPr>
          <p:cNvPr id="74" name="Shape 63"/>
          <p:cNvSpPr/>
          <p:nvPr/>
        </p:nvSpPr>
        <p:spPr>
          <a:xfrm>
            <a:off x="5391302" y="6933895"/>
            <a:ext cx="247802" cy="247802"/>
          </a:xfrm>
          <a:prstGeom prst="rect">
            <a:avLst/>
          </a:prstGeom>
          <a:solidFill>
            <a:srgbClr val="C9A961">
              <a:alpha val="18000"/>
            </a:srgbClr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5" name="Text 64"/>
          <p:cNvSpPr txBox="1"/>
          <p:nvPr/>
        </p:nvSpPr>
        <p:spPr>
          <a:xfrm>
            <a:off x="5487314" y="6991502"/>
            <a:ext cx="7955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ar(--font-display)" pitchFamily="34" charset="0"/>
                <a:ea typeface="var(--font-display)" pitchFamily="34" charset="-122"/>
                <a:cs typeface="var(--font-display)" pitchFamily="34" charset="-120"/>
              </a:rPr>
              <a:t>٤</a:t>
            </a:r>
            <a:endParaRPr lang="en-US" sz="900" dirty="0"/>
          </a:p>
        </p:txBody>
      </p:sp>
      <p:sp>
        <p:nvSpPr>
          <p:cNvPr id="76" name="Text 65"/>
          <p:cNvSpPr txBox="1"/>
          <p:nvPr/>
        </p:nvSpPr>
        <p:spPr>
          <a:xfrm>
            <a:off x="2165299" y="6915607"/>
            <a:ext cx="367497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8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تطوير مستمر بناءً على مؤشرات الأداء والملاحظات</a:t>
            </a:r>
            <a:endParaRPr lang="en-US" sz="1200" dirty="0"/>
          </a:p>
        </p:txBody>
      </p:sp>
      <p:pic>
        <p:nvPicPr>
          <p:cNvPr id="77" name="Image 9" descr="gen-dedup-9c39acba89e45aa603c266de7ff7e196.png">    </p:cNvPr>
          <p:cNvPicPr>
            <a:picLocks noChangeAspect="1"/>
          </p:cNvPicPr>
          <p:nvPr/>
        </p:nvPicPr>
        <p:blipFill>
          <a:blip r:embed="rId10"/>
          <a:srcRect l="-400" r="-400" t="0" b="0"/>
          <a:stretch/>
        </p:blipFill>
        <p:spPr>
          <a:xfrm>
            <a:off x="16402507" y="9105595"/>
            <a:ext cx="57607" cy="457200"/>
          </a:xfrm>
          <a:prstGeom prst="rect">
            <a:avLst/>
          </a:prstGeom>
        </p:spPr>
      </p:pic>
      <p:sp>
        <p:nvSpPr>
          <p:cNvPr id="78" name="Text 66"/>
          <p:cNvSpPr txBox="1"/>
          <p:nvPr/>
        </p:nvSpPr>
        <p:spPr>
          <a:xfrm>
            <a:off x="7204558" y="9134856"/>
            <a:ext cx="90297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000000"/>
                </a:solidFill>
                <a:latin typeface="var(--font-body)" pitchFamily="34" charset="0"/>
                <a:ea typeface="var(--font-body)" pitchFamily="34" charset="-122"/>
                <a:cs typeface="var(--font-body)" pitchFamily="34" charset="-120"/>
              </a:rPr>
              <a:t>الطلب</a:t>
            </a:r>
            <a:endParaRPr lang="en-US" sz="900" dirty="0"/>
          </a:p>
        </p:txBody>
      </p:sp>
      <p:sp>
        <p:nvSpPr>
          <p:cNvPr id="79" name="Text 67"/>
          <p:cNvSpPr txBox="1"/>
          <p:nvPr/>
        </p:nvSpPr>
        <p:spPr>
          <a:xfrm>
            <a:off x="7204558" y="9286646"/>
            <a:ext cx="9715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اعتماد إطلاق النظام رسميًّا على مستوى قطاع غرب الرياض، وتخصيص فترة تجريبية مدَّتها أسبوعان.</a:t>
            </a:r>
            <a:endParaRPr lang="en-US" sz="1600" dirty="0"/>
          </a:p>
        </p:txBody>
      </p:sp>
      <p:sp>
        <p:nvSpPr>
          <p:cNvPr id="80" name="Text 68"/>
          <p:cNvSpPr txBox="1"/>
          <p:nvPr/>
        </p:nvSpPr>
        <p:spPr>
          <a:xfrm>
            <a:off x="457200" y="9253728"/>
            <a:ext cx="92811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FFFFF">
                    <a:alpha val="85000"/>
                  </a:srgbClr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2026-05-21T08:56:12Z</dcterms:created>
  <dcterms:modified xsi:type="dcterms:W3CDTF">2026-05-21T08:56:12Z</dcterms:modified>
</cp:coreProperties>
</file>